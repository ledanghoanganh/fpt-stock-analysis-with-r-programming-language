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Red Hat Display Bold" charset="1" panose="02010803040201060303"/>
      <p:regular r:id="rId25"/>
    </p:embeddedFont>
    <p:embeddedFont>
      <p:font typeface="Red Hat Display" charset="1" panose="02010503040201060303"/>
      <p:regular r:id="rId26"/>
    </p:embeddedFont>
    <p:embeddedFont>
      <p:font typeface="Roboto Slab Bold" charset="1" panose="00000000000000000000"/>
      <p:regular r:id="rId27"/>
    </p:embeddedFont>
    <p:embeddedFont>
      <p:font typeface="Roboto Slab" charset="1" panose="00000000000000000000"/>
      <p:regular r:id="rId28"/>
    </p:embeddedFont>
    <p:embeddedFont>
      <p:font typeface="Red Hat Display Italics" charset="1" panose="020105030402010D0303"/>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jpeg" Type="http://schemas.openxmlformats.org/officeDocument/2006/relationships/image"/><Relationship Id="rId9" Target="../media/image8.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png" Type="http://schemas.openxmlformats.org/officeDocument/2006/relationships/image"/><Relationship Id="rId5" Target="../media/image2.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2.jpeg" Type="http://schemas.openxmlformats.org/officeDocument/2006/relationships/image"/><Relationship Id="rId9" Target="../media/image13.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4.jpeg" Type="http://schemas.openxmlformats.org/officeDocument/2006/relationships/image"/><Relationship Id="rId9" Target="../media/image15.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png" Type="http://schemas.openxmlformats.org/officeDocument/2006/relationships/image"/><Relationship Id="rId11" Target="../media/image22.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4.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5.png" Type="http://schemas.openxmlformats.org/officeDocument/2006/relationships/image"/><Relationship Id="rId11" Target="../media/image26.svg" Type="http://schemas.openxmlformats.org/officeDocument/2006/relationships/image"/><Relationship Id="rId12" Target="../media/image27.png" Type="http://schemas.openxmlformats.org/officeDocument/2006/relationships/image"/><Relationship Id="rId13" Target="../media/image28.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000125"/>
            <a:ext cx="16230600" cy="1937030"/>
          </a:xfrm>
          <a:prstGeom prst="rect">
            <a:avLst/>
          </a:prstGeom>
        </p:spPr>
        <p:txBody>
          <a:bodyPr anchor="t" rtlCol="false" tIns="0" lIns="0" bIns="0" rIns="0">
            <a:spAutoFit/>
          </a:bodyPr>
          <a:lstStyle/>
          <a:p>
            <a:pPr algn="ctr">
              <a:lnSpc>
                <a:spcPts val="7712"/>
              </a:lnSpc>
            </a:pPr>
            <a:r>
              <a:rPr lang="en-US" b="true" sz="6199">
                <a:solidFill>
                  <a:srgbClr val="2D2261"/>
                </a:solidFill>
                <a:latin typeface="Red Hat Display Bold"/>
                <a:ea typeface="Red Hat Display Bold"/>
                <a:cs typeface="Red Hat Display Bold"/>
                <a:sym typeface="Red Hat Display Bold"/>
              </a:rPr>
              <a:t>Dự báo giá</a:t>
            </a:r>
            <a:r>
              <a:rPr lang="en-US" sz="6199">
                <a:solidFill>
                  <a:srgbClr val="2D2261"/>
                </a:solidFill>
                <a:latin typeface="Red Hat Display"/>
                <a:ea typeface="Red Hat Display"/>
                <a:cs typeface="Red Hat Display"/>
                <a:sym typeface="Red Hat Display"/>
              </a:rPr>
              <a:t> và </a:t>
            </a:r>
            <a:r>
              <a:rPr lang="en-US" b="true" sz="6199">
                <a:solidFill>
                  <a:srgbClr val="2D2261"/>
                </a:solidFill>
                <a:latin typeface="Red Hat Display Bold"/>
                <a:ea typeface="Red Hat Display Bold"/>
                <a:cs typeface="Red Hat Display Bold"/>
                <a:sym typeface="Red Hat Display Bold"/>
              </a:rPr>
              <a:t>phân tích biến động</a:t>
            </a:r>
            <a:r>
              <a:rPr lang="en-US" sz="6199">
                <a:solidFill>
                  <a:srgbClr val="2D2261"/>
                </a:solidFill>
                <a:latin typeface="Red Hat Display"/>
                <a:ea typeface="Red Hat Display"/>
                <a:cs typeface="Red Hat Display"/>
                <a:sym typeface="Red Hat Display"/>
              </a:rPr>
              <a:t> cổ phiếu FPT bằng </a:t>
            </a:r>
            <a:r>
              <a:rPr lang="en-US" b="true" sz="6199">
                <a:solidFill>
                  <a:srgbClr val="2D2261"/>
                </a:solidFill>
                <a:latin typeface="Red Hat Display Bold"/>
                <a:ea typeface="Red Hat Display Bold"/>
                <a:cs typeface="Red Hat Display Bold"/>
                <a:sym typeface="Red Hat Display Bold"/>
              </a:rPr>
              <a:t>mô hình chuỗi thời gian</a:t>
            </a:r>
          </a:p>
        </p:txBody>
      </p:sp>
      <p:sp>
        <p:nvSpPr>
          <p:cNvPr name="TextBox 6" id="6"/>
          <p:cNvSpPr txBox="true"/>
          <p:nvPr/>
        </p:nvSpPr>
        <p:spPr>
          <a:xfrm rot="0">
            <a:off x="3841829" y="3816873"/>
            <a:ext cx="10604341" cy="5441427"/>
          </a:xfrm>
          <a:prstGeom prst="rect">
            <a:avLst/>
          </a:prstGeom>
        </p:spPr>
        <p:txBody>
          <a:bodyPr anchor="t" rtlCol="false" tIns="0" lIns="0" bIns="0" rIns="0">
            <a:spAutoFit/>
          </a:bodyPr>
          <a:lstStyle/>
          <a:p>
            <a:pPr algn="ctr">
              <a:lnSpc>
                <a:spcPts val="6153"/>
              </a:lnSpc>
              <a:spcBef>
                <a:spcPct val="0"/>
              </a:spcBef>
            </a:pPr>
            <a:r>
              <a:rPr lang="en-US" b="true" sz="4395">
                <a:solidFill>
                  <a:srgbClr val="2D2261"/>
                </a:solidFill>
                <a:latin typeface="Roboto Slab Bold"/>
                <a:ea typeface="Roboto Slab Bold"/>
                <a:cs typeface="Roboto Slab Bold"/>
                <a:sym typeface="Roboto Slab Bold"/>
              </a:rPr>
              <a:t>Thành viên:</a:t>
            </a:r>
          </a:p>
          <a:p>
            <a:pPr algn="ctr">
              <a:lnSpc>
                <a:spcPts val="6153"/>
              </a:lnSpc>
              <a:spcBef>
                <a:spcPct val="0"/>
              </a:spcBef>
            </a:pPr>
            <a:r>
              <a:rPr lang="en-US" sz="4395">
                <a:solidFill>
                  <a:srgbClr val="2D2261"/>
                </a:solidFill>
                <a:latin typeface="Roboto Slab"/>
                <a:ea typeface="Roboto Slab"/>
                <a:cs typeface="Roboto Slab"/>
                <a:sym typeface="Roboto Slab"/>
              </a:rPr>
              <a:t>Trần Thiên Lực — MSSV 24133037</a:t>
            </a:r>
          </a:p>
          <a:p>
            <a:pPr algn="ctr">
              <a:lnSpc>
                <a:spcPts val="6153"/>
              </a:lnSpc>
              <a:spcBef>
                <a:spcPct val="0"/>
              </a:spcBef>
            </a:pPr>
            <a:r>
              <a:rPr lang="en-US" sz="4395">
                <a:solidFill>
                  <a:srgbClr val="2D2261"/>
                </a:solidFill>
                <a:latin typeface="Roboto Slab"/>
                <a:ea typeface="Roboto Slab"/>
                <a:cs typeface="Roboto Slab"/>
                <a:sym typeface="Roboto Slab"/>
              </a:rPr>
              <a:t>Nguyễn Đức Học — MSSV 24162039</a:t>
            </a:r>
          </a:p>
          <a:p>
            <a:pPr algn="ctr">
              <a:lnSpc>
                <a:spcPts val="6153"/>
              </a:lnSpc>
              <a:spcBef>
                <a:spcPct val="0"/>
              </a:spcBef>
            </a:pPr>
            <a:r>
              <a:rPr lang="en-US" sz="4395">
                <a:solidFill>
                  <a:srgbClr val="2D2261"/>
                </a:solidFill>
                <a:latin typeface="Roboto Slab"/>
                <a:ea typeface="Roboto Slab"/>
                <a:cs typeface="Roboto Slab"/>
                <a:sym typeface="Roboto Slab"/>
              </a:rPr>
              <a:t>Lê Đặng Hoàng Anh — MSSV 24162006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Môn học:</a:t>
            </a:r>
            <a:r>
              <a:rPr lang="en-US" sz="4395">
                <a:solidFill>
                  <a:srgbClr val="2D2261"/>
                </a:solidFill>
                <a:latin typeface="Roboto Slab"/>
                <a:ea typeface="Roboto Slab"/>
                <a:cs typeface="Roboto Slab"/>
                <a:sym typeface="Roboto Slab"/>
              </a:rPr>
              <a:t> Lập trình R cho phân tích</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Nhóm: </a:t>
            </a:r>
            <a:r>
              <a:rPr lang="en-US" sz="4395">
                <a:solidFill>
                  <a:srgbClr val="2D2261"/>
                </a:solidFill>
                <a:latin typeface="Roboto Slab"/>
                <a:ea typeface="Roboto Slab"/>
                <a:cs typeface="Roboto Slab"/>
                <a:sym typeface="Roboto Slab"/>
              </a:rPr>
              <a:t>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Giảng viên hướng dẫn:</a:t>
            </a:r>
            <a:r>
              <a:rPr lang="en-US" sz="4395">
                <a:solidFill>
                  <a:srgbClr val="2D2261"/>
                </a:solidFill>
                <a:latin typeface="Roboto Slab"/>
                <a:ea typeface="Roboto Slab"/>
                <a:cs typeface="Roboto Slab"/>
                <a:sym typeface="Roboto Slab"/>
              </a:rPr>
              <a:t> TS. Phan Thị Thể</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555704"/>
            <a:ext cx="16230600" cy="15361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Cổ phiếu FPT</a:t>
            </a:r>
            <a:r>
              <a:rPr lang="en-US" sz="4395">
                <a:solidFill>
                  <a:srgbClr val="2D2261"/>
                </a:solidFill>
                <a:latin typeface="Roboto Slab"/>
                <a:ea typeface="Roboto Slab"/>
                <a:cs typeface="Roboto Slab"/>
                <a:sym typeface="Roboto Slab"/>
              </a:rPr>
              <a:t> là một t</a:t>
            </a:r>
            <a:r>
              <a:rPr lang="en-US" sz="4395">
                <a:solidFill>
                  <a:srgbClr val="2D2261"/>
                </a:solidFill>
                <a:latin typeface="Roboto Slab"/>
                <a:ea typeface="Roboto Slab"/>
                <a:cs typeface="Roboto Slab"/>
                <a:sym typeface="Roboto Slab"/>
              </a:rPr>
              <a:t>rong những mã blue-chip trên sàn HOSE với lịch sử giao dịch dài và thanh khoản cao. </a:t>
            </a:r>
          </a:p>
        </p:txBody>
      </p:sp>
      <p:sp>
        <p:nvSpPr>
          <p:cNvPr name="TextBox 6" id="6"/>
          <p:cNvSpPr txBox="true"/>
          <p:nvPr/>
        </p:nvSpPr>
        <p:spPr>
          <a:xfrm rot="0">
            <a:off x="1028700" y="5214630"/>
            <a:ext cx="16230600" cy="46603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Hai bài toán nghiên cứu:</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A:</a:t>
            </a:r>
            <a:r>
              <a:rPr lang="en-US" sz="4395">
                <a:solidFill>
                  <a:srgbClr val="2D2261"/>
                </a:solidFill>
                <a:latin typeface="Roboto Slab"/>
                <a:ea typeface="Roboto Slab"/>
                <a:cs typeface="Roboto Slab"/>
                <a:sym typeface="Roboto Slab"/>
              </a:rPr>
              <a:t> Dự báo mức giá đóng cửa — mô hình phức tạp có cải thiện so với Naive (random walk) không?</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B:</a:t>
            </a:r>
            <a:r>
              <a:rPr lang="en-US" sz="4395">
                <a:solidFill>
                  <a:srgbClr val="2D2261"/>
                </a:solidFill>
                <a:latin typeface="Roboto Slab"/>
                <a:ea typeface="Roboto Slab"/>
                <a:cs typeface="Roboto Slab"/>
                <a:sym typeface="Roboto Slab"/>
              </a:rPr>
              <a:t> Mô hình hóa conditional volatility — </a:t>
            </a:r>
            <a:r>
              <a:rPr lang="en-US" b="true" sz="4395">
                <a:solidFill>
                  <a:srgbClr val="2D2261"/>
                </a:solidFill>
                <a:latin typeface="Roboto Slab Bold"/>
                <a:ea typeface="Roboto Slab Bold"/>
                <a:cs typeface="Roboto Slab Bold"/>
                <a:sym typeface="Roboto Slab Bold"/>
              </a:rPr>
              <a:t>Student-t</a:t>
            </a:r>
            <a:r>
              <a:rPr lang="en-US" sz="4395">
                <a:solidFill>
                  <a:srgbClr val="2D2261"/>
                </a:solidFill>
                <a:latin typeface="Roboto Slab"/>
                <a:ea typeface="Roboto Slab"/>
                <a:cs typeface="Roboto Slab"/>
                <a:sym typeface="Roboto Slab"/>
              </a:rPr>
              <a:t> và </a:t>
            </a:r>
            <a:r>
              <a:rPr lang="en-US" b="true" sz="4395">
                <a:solidFill>
                  <a:srgbClr val="2D2261"/>
                </a:solidFill>
                <a:latin typeface="Roboto Slab Bold"/>
                <a:ea typeface="Roboto Slab Bold"/>
                <a:cs typeface="Roboto Slab Bold"/>
                <a:sym typeface="Roboto Slab Bold"/>
              </a:rPr>
              <a:t>bất đối xứng</a:t>
            </a:r>
            <a:r>
              <a:rPr lang="en-US" sz="4395">
                <a:solidFill>
                  <a:srgbClr val="2D2261"/>
                </a:solidFill>
                <a:latin typeface="Roboto Slab"/>
                <a:ea typeface="Roboto Slab"/>
                <a:cs typeface="Roboto Slab"/>
                <a:sym typeface="Roboto Slab"/>
              </a:rPr>
              <a:t> có cải thiện GARCH-Normal không?</a:t>
            </a:r>
          </a:p>
          <a:p>
            <a:pPr algn="l">
              <a:lnSpc>
                <a:spcPts val="6153"/>
              </a:lnSpc>
              <a:spcBef>
                <a:spcPct val="0"/>
              </a:spcBef>
            </a:pPr>
          </a:p>
        </p:txBody>
      </p:sp>
      <p:sp>
        <p:nvSpPr>
          <p:cNvPr name="TextBox 7" id="7"/>
          <p:cNvSpPr txBox="true"/>
          <p:nvPr/>
        </p:nvSpPr>
        <p:spPr>
          <a:xfrm rot="0">
            <a:off x="1028700" y="3383178"/>
            <a:ext cx="16230600" cy="1536177"/>
          </a:xfrm>
          <a:prstGeom prst="rect">
            <a:avLst/>
          </a:prstGeom>
        </p:spPr>
        <p:txBody>
          <a:bodyPr anchor="t" rtlCol="false" tIns="0" lIns="0" bIns="0" rIns="0">
            <a:spAutoFit/>
          </a:bodyPr>
          <a:lstStyle/>
          <a:p>
            <a:pPr algn="l">
              <a:lnSpc>
                <a:spcPts val="6153"/>
              </a:lnSpc>
              <a:spcBef>
                <a:spcPct val="0"/>
              </a:spcBef>
            </a:pPr>
            <a:r>
              <a:rPr lang="en-US" sz="4395">
                <a:solidFill>
                  <a:srgbClr val="2D2261"/>
                </a:solidFill>
                <a:latin typeface="Roboto Slab"/>
                <a:ea typeface="Roboto Slab"/>
                <a:cs typeface="Roboto Slab"/>
                <a:sym typeface="Roboto Slab"/>
              </a:rPr>
              <a:t>Phân tích chuỗi thời </a:t>
            </a:r>
            <a:r>
              <a:rPr lang="en-US" sz="4395">
                <a:solidFill>
                  <a:srgbClr val="2D2261"/>
                </a:solidFill>
                <a:latin typeface="Roboto Slab"/>
                <a:ea typeface="Roboto Slab"/>
                <a:cs typeface="Roboto Slab"/>
                <a:sym typeface="Roboto Slab"/>
              </a:rPr>
              <a:t>gian giúp hiểu hành vi giá và mức độ biến động.</a:t>
            </a:r>
          </a:p>
        </p:txBody>
      </p:sp>
      <p:sp>
        <p:nvSpPr>
          <p:cNvPr name="TextBox 8" id="8"/>
          <p:cNvSpPr txBox="true"/>
          <p:nvPr/>
        </p:nvSpPr>
        <p:spPr>
          <a:xfrm rot="0">
            <a:off x="1028700" y="332856"/>
            <a:ext cx="16230600"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Giới thiệu về đề tài và bài toán nghiên cứu</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2071312" y="4083578"/>
            <a:ext cx="5947600" cy="932330"/>
          </a:xfrm>
          <a:custGeom>
            <a:avLst/>
            <a:gdLst/>
            <a:ahLst/>
            <a:cxnLst/>
            <a:rect r="r" b="b" t="t" l="l"/>
            <a:pathLst>
              <a:path h="932330" w="5947600">
                <a:moveTo>
                  <a:pt x="0" y="0"/>
                </a:moveTo>
                <a:lnTo>
                  <a:pt x="5947600" y="0"/>
                </a:lnTo>
                <a:lnTo>
                  <a:pt x="5947600" y="932330"/>
                </a:lnTo>
                <a:lnTo>
                  <a:pt x="0" y="932330"/>
                </a:lnTo>
                <a:lnTo>
                  <a:pt x="0" y="0"/>
                </a:lnTo>
                <a:close/>
              </a:path>
            </a:pathLst>
          </a:custGeom>
          <a:blipFill>
            <a:blip r:embed="rId8"/>
            <a:stretch>
              <a:fillRect l="-2681" t="-283969" r="-2681" b="-288172"/>
            </a:stretch>
          </a:blipFill>
        </p:spPr>
      </p:sp>
      <p:sp>
        <p:nvSpPr>
          <p:cNvPr name="Freeform 6" id="6"/>
          <p:cNvSpPr/>
          <p:nvPr/>
        </p:nvSpPr>
        <p:spPr>
          <a:xfrm flipH="false" flipV="false" rot="0">
            <a:off x="10931458" y="2078434"/>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7" id="7"/>
          <p:cNvSpPr/>
          <p:nvPr/>
        </p:nvSpPr>
        <p:spPr>
          <a:xfrm flipH="false" flipV="false" rot="0">
            <a:off x="10931458" y="3186059"/>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8" id="8"/>
          <p:cNvSpPr/>
          <p:nvPr/>
        </p:nvSpPr>
        <p:spPr>
          <a:xfrm flipH="false" flipV="false" rot="0">
            <a:off x="10931458" y="429722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9" id="9"/>
          <p:cNvSpPr/>
          <p:nvPr/>
        </p:nvSpPr>
        <p:spPr>
          <a:xfrm flipH="false" flipV="false" rot="0">
            <a:off x="10931458" y="540839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0" id="10"/>
          <p:cNvSpPr/>
          <p:nvPr/>
        </p:nvSpPr>
        <p:spPr>
          <a:xfrm flipH="false" flipV="false" rot="0">
            <a:off x="10931458" y="7630737"/>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1" id="11"/>
          <p:cNvSpPr/>
          <p:nvPr/>
        </p:nvSpPr>
        <p:spPr>
          <a:xfrm flipH="false" flipV="false" rot="0">
            <a:off x="10931458" y="6519567"/>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2" id="12"/>
          <p:cNvSpPr/>
          <p:nvPr/>
        </p:nvSpPr>
        <p:spPr>
          <a:xfrm flipH="false" flipV="false" rot="0">
            <a:off x="10931458" y="8743001"/>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3" id="13"/>
          <p:cNvSpPr/>
          <p:nvPr/>
        </p:nvSpPr>
        <p:spPr>
          <a:xfrm flipH="false" flipV="false" rot="5337022">
            <a:off x="12846146" y="3025998"/>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2071312" y="5227482"/>
            <a:ext cx="7334338" cy="1656842"/>
          </a:xfrm>
          <a:prstGeom prst="rect">
            <a:avLst/>
          </a:prstGeom>
        </p:spPr>
        <p:txBody>
          <a:bodyPr anchor="t" rtlCol="false" tIns="0" lIns="0" bIns="0" rIns="0">
            <a:spAutoFit/>
          </a:bodyPr>
          <a:lstStyle/>
          <a:p>
            <a:pPr algn="just">
              <a:lnSpc>
                <a:spcPts val="4353"/>
              </a:lnSpc>
            </a:pPr>
            <a:r>
              <a:rPr lang="en-US" sz="3499">
                <a:solidFill>
                  <a:srgbClr val="2D2261"/>
                </a:solidFill>
                <a:latin typeface="Red Hat Display"/>
                <a:ea typeface="Red Hat Display"/>
                <a:cs typeface="Red Hat Display"/>
                <a:sym typeface="Red Hat Display"/>
              </a:rPr>
              <a:t>Thời gian:</a:t>
            </a:r>
            <a:r>
              <a:rPr lang="en-US" sz="3499">
                <a:solidFill>
                  <a:srgbClr val="2D2261"/>
                </a:solidFill>
                <a:latin typeface="Red Hat Display"/>
                <a:ea typeface="Red Hat Display"/>
                <a:cs typeface="Red Hat Display"/>
                <a:sym typeface="Red Hat Display"/>
              </a:rPr>
              <a:t> </a:t>
            </a:r>
            <a:r>
              <a:rPr lang="en-US" sz="3499" b="true">
                <a:solidFill>
                  <a:srgbClr val="2D2261"/>
                </a:solidFill>
                <a:latin typeface="Red Hat Display Bold"/>
                <a:ea typeface="Red Hat Display Bold"/>
                <a:cs typeface="Red Hat Display Bold"/>
                <a:sym typeface="Red Hat Display Bold"/>
              </a:rPr>
              <a:t>2015–2026</a:t>
            </a:r>
          </a:p>
          <a:p>
            <a:pPr algn="just">
              <a:lnSpc>
                <a:spcPts val="4353"/>
              </a:lnSpc>
            </a:pPr>
            <a:r>
              <a:rPr lang="en-US" sz="3499">
                <a:solidFill>
                  <a:srgbClr val="2D2261"/>
                </a:solidFill>
                <a:latin typeface="Red Hat Display"/>
                <a:ea typeface="Red Hat Display"/>
                <a:cs typeface="Red Hat Display"/>
                <a:sym typeface="Red Hat Display"/>
              </a:rPr>
              <a:t>D</a:t>
            </a:r>
            <a:r>
              <a:rPr lang="en-US" sz="3499">
                <a:solidFill>
                  <a:srgbClr val="2D2261"/>
                </a:solidFill>
                <a:latin typeface="Red Hat Display"/>
                <a:ea typeface="Red Hat Display"/>
                <a:cs typeface="Red Hat Display"/>
                <a:sym typeface="Red Hat Display"/>
              </a:rPr>
              <a:t>ữ liệu</a:t>
            </a:r>
            <a:r>
              <a:rPr lang="en-US" sz="3499">
                <a:solidFill>
                  <a:srgbClr val="2D2261"/>
                </a:solidFill>
                <a:latin typeface="Red Hat Display"/>
                <a:ea typeface="Red Hat Display"/>
                <a:cs typeface="Red Hat Display"/>
                <a:sym typeface="Red Hat Display"/>
              </a:rPr>
              <a:t> thô: </a:t>
            </a:r>
            <a:r>
              <a:rPr lang="en-US" sz="3499" b="true">
                <a:solidFill>
                  <a:srgbClr val="2D2261"/>
                </a:solidFill>
                <a:latin typeface="Red Hat Display Bold"/>
                <a:ea typeface="Red Hat Display Bold"/>
                <a:cs typeface="Red Hat Display Bold"/>
                <a:sym typeface="Red Hat Display Bold"/>
              </a:rPr>
              <a:t>2.960 dòng</a:t>
            </a:r>
          </a:p>
          <a:p>
            <a:pPr algn="just">
              <a:lnSpc>
                <a:spcPts val="4353"/>
              </a:lnSpc>
            </a:pPr>
            <a:r>
              <a:rPr lang="en-US" sz="3499">
                <a:solidFill>
                  <a:srgbClr val="2D2261"/>
                </a:solidFill>
                <a:latin typeface="Red Hat Display"/>
                <a:ea typeface="Red Hat Display"/>
                <a:cs typeface="Red Hat Display"/>
                <a:sym typeface="Red Hat Display"/>
              </a:rPr>
              <a:t>Dữ liệu sau làm sạch: </a:t>
            </a:r>
            <a:r>
              <a:rPr lang="en-US" b="true" sz="3499">
                <a:solidFill>
                  <a:srgbClr val="2D2261"/>
                </a:solidFill>
                <a:latin typeface="Red Hat Display Bold"/>
                <a:ea typeface="Red Hat Display Bold"/>
                <a:cs typeface="Red Hat Display Bold"/>
                <a:sym typeface="Red Hat Display Bold"/>
              </a:rPr>
              <a:t>2.787 dòng</a:t>
            </a:r>
          </a:p>
        </p:txBody>
      </p:sp>
      <p:sp>
        <p:nvSpPr>
          <p:cNvPr name="TextBox 15" id="15"/>
          <p:cNvSpPr txBox="true"/>
          <p:nvPr/>
        </p:nvSpPr>
        <p:spPr>
          <a:xfrm rot="0">
            <a:off x="2291545" y="274200"/>
            <a:ext cx="13704909" cy="992834"/>
          </a:xfrm>
          <a:prstGeom prst="rect">
            <a:avLst/>
          </a:prstGeom>
        </p:spPr>
        <p:txBody>
          <a:bodyPr anchor="t" rtlCol="false" tIns="0" lIns="0" bIns="0" rIns="0">
            <a:spAutoFit/>
          </a:bodyPr>
          <a:lstStyle/>
          <a:p>
            <a:pPr algn="l">
              <a:lnSpc>
                <a:spcPts val="7984"/>
              </a:lnSpc>
            </a:pPr>
            <a:r>
              <a:rPr lang="en-US" b="true" sz="6418">
                <a:solidFill>
                  <a:srgbClr val="2D2261"/>
                </a:solidFill>
                <a:latin typeface="Red Hat Display Bold"/>
                <a:ea typeface="Red Hat Display Bold"/>
                <a:cs typeface="Red Hat Display Bold"/>
                <a:sym typeface="Red Hat Display Bold"/>
              </a:rPr>
              <a:t>Nguồn dữ liệu &amp; Quy trình phân tích</a:t>
            </a:r>
          </a:p>
        </p:txBody>
      </p:sp>
      <p:sp>
        <p:nvSpPr>
          <p:cNvPr name="TextBox 16" id="16"/>
          <p:cNvSpPr txBox="true"/>
          <p:nvPr/>
        </p:nvSpPr>
        <p:spPr>
          <a:xfrm rot="0">
            <a:off x="10931458" y="2242194"/>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Th</a:t>
            </a:r>
            <a:r>
              <a:rPr lang="en-US" b="true" sz="3037">
                <a:solidFill>
                  <a:srgbClr val="2D2261"/>
                </a:solidFill>
                <a:latin typeface="Red Hat Display Bold"/>
                <a:ea typeface="Red Hat Display Bold"/>
                <a:cs typeface="Red Hat Display Bold"/>
                <a:sym typeface="Red Hat Display Bold"/>
              </a:rPr>
              <a:t>u thập dữ liệu</a:t>
            </a:r>
          </a:p>
        </p:txBody>
      </p:sp>
      <p:sp>
        <p:nvSpPr>
          <p:cNvPr name="TextBox 17" id="17"/>
          <p:cNvSpPr txBox="true"/>
          <p:nvPr/>
        </p:nvSpPr>
        <p:spPr>
          <a:xfrm rot="0">
            <a:off x="10931458" y="334981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Làm</a:t>
            </a:r>
            <a:r>
              <a:rPr lang="en-US" b="true" sz="3037">
                <a:solidFill>
                  <a:srgbClr val="2D2261"/>
                </a:solidFill>
                <a:latin typeface="Red Hat Display Bold"/>
                <a:ea typeface="Red Hat Display Bold"/>
                <a:cs typeface="Red Hat Display Bold"/>
                <a:sym typeface="Red Hat Display Bold"/>
              </a:rPr>
              <a:t> sạch dữ liệu</a:t>
            </a:r>
          </a:p>
        </p:txBody>
      </p:sp>
      <p:sp>
        <p:nvSpPr>
          <p:cNvPr name="TextBox 18" id="18"/>
          <p:cNvSpPr txBox="true"/>
          <p:nvPr/>
        </p:nvSpPr>
        <p:spPr>
          <a:xfrm rot="0">
            <a:off x="10931458" y="446098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EDA </a:t>
            </a:r>
          </a:p>
        </p:txBody>
      </p:sp>
      <p:sp>
        <p:nvSpPr>
          <p:cNvPr name="TextBox 19" id="19"/>
          <p:cNvSpPr txBox="true"/>
          <p:nvPr/>
        </p:nvSpPr>
        <p:spPr>
          <a:xfrm rot="0">
            <a:off x="10931458" y="557215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Kiểm định</a:t>
            </a:r>
            <a:r>
              <a:rPr lang="en-US" b="true" sz="3037">
                <a:solidFill>
                  <a:srgbClr val="2D2261"/>
                </a:solidFill>
                <a:latin typeface="Red Hat Display Bold"/>
                <a:ea typeface="Red Hat Display Bold"/>
                <a:cs typeface="Red Hat Display Bold"/>
                <a:sym typeface="Red Hat Display Bold"/>
              </a:rPr>
              <a:t> tính dừng</a:t>
            </a:r>
          </a:p>
        </p:txBody>
      </p:sp>
      <p:sp>
        <p:nvSpPr>
          <p:cNvPr name="TextBox 20" id="20"/>
          <p:cNvSpPr txBox="true"/>
          <p:nvPr/>
        </p:nvSpPr>
        <p:spPr>
          <a:xfrm rot="0">
            <a:off x="10931458" y="779449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GARCH</a:t>
            </a:r>
          </a:p>
        </p:txBody>
      </p:sp>
      <p:sp>
        <p:nvSpPr>
          <p:cNvPr name="TextBox 21" id="21"/>
          <p:cNvSpPr txBox="true"/>
          <p:nvPr/>
        </p:nvSpPr>
        <p:spPr>
          <a:xfrm rot="0">
            <a:off x="10931458" y="6687472"/>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dự báo</a:t>
            </a:r>
          </a:p>
        </p:txBody>
      </p:sp>
      <p:sp>
        <p:nvSpPr>
          <p:cNvPr name="TextBox 22" id="22"/>
          <p:cNvSpPr txBox="true"/>
          <p:nvPr/>
        </p:nvSpPr>
        <p:spPr>
          <a:xfrm rot="0">
            <a:off x="10931458" y="8909811"/>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Đá</a:t>
            </a:r>
            <a:r>
              <a:rPr lang="en-US" b="true" sz="3037">
                <a:solidFill>
                  <a:srgbClr val="2D2261"/>
                </a:solidFill>
                <a:latin typeface="Red Hat Display Bold"/>
                <a:ea typeface="Red Hat Display Bold"/>
                <a:cs typeface="Red Hat Display Bold"/>
                <a:sym typeface="Red Hat Display Bold"/>
              </a:rPr>
              <a:t>nh giá &amp; Báo cáo</a:t>
            </a:r>
          </a:p>
        </p:txBody>
      </p:sp>
      <p:sp>
        <p:nvSpPr>
          <p:cNvPr name="Freeform 23" id="23"/>
          <p:cNvSpPr/>
          <p:nvPr/>
        </p:nvSpPr>
        <p:spPr>
          <a:xfrm flipH="false" flipV="false" rot="5337022">
            <a:off x="12777047" y="4137168"/>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4" id="24"/>
          <p:cNvSpPr/>
          <p:nvPr/>
        </p:nvSpPr>
        <p:spPr>
          <a:xfrm flipH="false" flipV="false" rot="5337022">
            <a:off x="12846146" y="5238813"/>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5" id="25"/>
          <p:cNvSpPr/>
          <p:nvPr/>
        </p:nvSpPr>
        <p:spPr>
          <a:xfrm flipH="false" flipV="false" rot="5337022">
            <a:off x="12846146" y="6351782"/>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6" id="26"/>
          <p:cNvSpPr/>
          <p:nvPr/>
        </p:nvSpPr>
        <p:spPr>
          <a:xfrm flipH="false" flipV="false" rot="5337022">
            <a:off x="12777047" y="7470677"/>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7" id="27"/>
          <p:cNvSpPr/>
          <p:nvPr/>
        </p:nvSpPr>
        <p:spPr>
          <a:xfrm flipH="false" flipV="false" rot="5337022">
            <a:off x="12846146" y="8581301"/>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9426524">
            <a:off x="-3984660" y="-4765086"/>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031617" y="202107"/>
            <a:ext cx="14224766" cy="1044389"/>
          </a:xfrm>
          <a:prstGeom prst="rect">
            <a:avLst/>
          </a:prstGeom>
        </p:spPr>
        <p:txBody>
          <a:bodyPr anchor="t" rtlCol="false" tIns="0" lIns="0" bIns="0" rIns="0">
            <a:spAutoFit/>
          </a:bodyPr>
          <a:lstStyle/>
          <a:p>
            <a:pPr algn="ctr">
              <a:lnSpc>
                <a:spcPts val="8585"/>
              </a:lnSpc>
            </a:pPr>
            <a:r>
              <a:rPr lang="en-US" b="true" sz="6132">
                <a:solidFill>
                  <a:srgbClr val="2D2261"/>
                </a:solidFill>
                <a:latin typeface="Red Hat Display Bold"/>
                <a:ea typeface="Red Hat Display Bold"/>
                <a:cs typeface="Red Hat Display Bold"/>
                <a:sym typeface="Red Hat Display Bold"/>
              </a:rPr>
              <a:t>Kiểm tra chất lượng dữ liệu &amp; Tạo biến</a:t>
            </a:r>
          </a:p>
        </p:txBody>
      </p:sp>
      <p:sp>
        <p:nvSpPr>
          <p:cNvPr name="Freeform 4" id="4"/>
          <p:cNvSpPr/>
          <p:nvPr/>
        </p:nvSpPr>
        <p:spPr>
          <a:xfrm flipH="false" flipV="false" rot="-2080684">
            <a:off x="10082077" y="8242051"/>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2830696">
            <a:off x="17191614" y="-219297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aphicFrame>
        <p:nvGraphicFramePr>
          <p:cNvPr name="Table 6" id="6"/>
          <p:cNvGraphicFramePr>
            <a:graphicFrameLocks noGrp="true"/>
          </p:cNvGraphicFramePr>
          <p:nvPr/>
        </p:nvGraphicFramePr>
        <p:xfrm>
          <a:off x="736403" y="3220804"/>
          <a:ext cx="7315200" cy="5133975"/>
        </p:xfrm>
        <a:graphic>
          <a:graphicData uri="http://schemas.openxmlformats.org/drawingml/2006/table">
            <a:tbl>
              <a:tblPr/>
              <a:tblGrid>
                <a:gridCol w="3657600"/>
                <a:gridCol w="3657600"/>
              </a:tblGrid>
              <a:tr h="1026795">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Kiểm tra</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Kết quả</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Ngày trùng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Giá ≤ 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Volume âm</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Chất lượng dữ liệu</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Đạt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7" id="7"/>
          <p:cNvSpPr/>
          <p:nvPr/>
        </p:nvSpPr>
        <p:spPr>
          <a:xfrm flipH="false" flipV="false" rot="5337022">
            <a:off x="10222608" y="7814626"/>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5337022">
            <a:off x="10153510" y="5958820"/>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false" flipV="false" rot="0">
            <a:off x="9328727" y="2302749"/>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0" id="10"/>
          <p:cNvSpPr txBox="true"/>
          <p:nvPr/>
        </p:nvSpPr>
        <p:spPr>
          <a:xfrm rot="0">
            <a:off x="9702226" y="1559067"/>
            <a:ext cx="1673870"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Tạo biến </a:t>
            </a:r>
          </a:p>
        </p:txBody>
      </p:sp>
      <p:sp>
        <p:nvSpPr>
          <p:cNvPr name="TextBox 11" id="11"/>
          <p:cNvSpPr txBox="true"/>
          <p:nvPr/>
        </p:nvSpPr>
        <p:spPr>
          <a:xfrm rot="0">
            <a:off x="9422015" y="2655181"/>
            <a:ext cx="2234292"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Giá đóng cửa</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(Close)</a:t>
            </a:r>
          </a:p>
        </p:txBody>
      </p:sp>
      <p:sp>
        <p:nvSpPr>
          <p:cNvPr name="Freeform 12" id="12"/>
          <p:cNvSpPr/>
          <p:nvPr/>
        </p:nvSpPr>
        <p:spPr>
          <a:xfrm flipH="false" flipV="false" rot="0">
            <a:off x="9328727" y="4213944"/>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3" id="13"/>
          <p:cNvSpPr txBox="true"/>
          <p:nvPr/>
        </p:nvSpPr>
        <p:spPr>
          <a:xfrm rot="0">
            <a:off x="9422015" y="4566376"/>
            <a:ext cx="2234292" cy="950923"/>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Log Price Log (Close)</a:t>
            </a:r>
          </a:p>
        </p:txBody>
      </p:sp>
      <p:sp>
        <p:nvSpPr>
          <p:cNvPr name="Freeform 14" id="14"/>
          <p:cNvSpPr/>
          <p:nvPr/>
        </p:nvSpPr>
        <p:spPr>
          <a:xfrm flipH="false" flipV="false" rot="0">
            <a:off x="9328727" y="6126905"/>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5" id="15"/>
          <p:cNvSpPr txBox="true"/>
          <p:nvPr/>
        </p:nvSpPr>
        <p:spPr>
          <a:xfrm rot="0">
            <a:off x="9375371" y="6479337"/>
            <a:ext cx="2327580"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Log Return </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(Lợi suất log)</a:t>
            </a:r>
          </a:p>
        </p:txBody>
      </p:sp>
      <p:sp>
        <p:nvSpPr>
          <p:cNvPr name="Freeform 16" id="16"/>
          <p:cNvSpPr/>
          <p:nvPr/>
        </p:nvSpPr>
        <p:spPr>
          <a:xfrm flipH="false" flipV="false" rot="0">
            <a:off x="9328727" y="8038983"/>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7" id="17"/>
          <p:cNvSpPr txBox="true"/>
          <p:nvPr/>
        </p:nvSpPr>
        <p:spPr>
          <a:xfrm rot="0">
            <a:off x="9422015" y="8147970"/>
            <a:ext cx="2234292" cy="1437812"/>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2786 </a:t>
            </a:r>
          </a:p>
          <a:p>
            <a:pPr algn="ctr">
              <a:lnSpc>
                <a:spcPts val="3884"/>
              </a:lnSpc>
            </a:pPr>
            <a:r>
              <a:rPr lang="en-US" sz="2774" b="true">
                <a:solidFill>
                  <a:srgbClr val="2D2261"/>
                </a:solidFill>
                <a:latin typeface="Red Hat Display Bold"/>
                <a:ea typeface="Red Hat Display Bold"/>
                <a:cs typeface="Red Hat Display Bold"/>
                <a:sym typeface="Red Hat Display Bold"/>
              </a:rPr>
              <a:t>Log Return</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Hợp lệ</a:t>
            </a:r>
          </a:p>
        </p:txBody>
      </p:sp>
      <p:sp>
        <p:nvSpPr>
          <p:cNvPr name="Freeform 18" id="18"/>
          <p:cNvSpPr/>
          <p:nvPr/>
        </p:nvSpPr>
        <p:spPr>
          <a:xfrm flipH="false" flipV="false" rot="5337022">
            <a:off x="10222608" y="4150633"/>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2866456" y="3833637"/>
            <a:ext cx="1058168"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Lưu ý</a:t>
            </a:r>
          </a:p>
        </p:txBody>
      </p:sp>
      <p:sp>
        <p:nvSpPr>
          <p:cNvPr name="TextBox 20" id="20"/>
          <p:cNvSpPr txBox="true"/>
          <p:nvPr/>
        </p:nvSpPr>
        <p:spPr>
          <a:xfrm rot="0">
            <a:off x="12535900" y="4513916"/>
            <a:ext cx="5193886" cy="3180405"/>
          </a:xfrm>
          <a:prstGeom prst="rect">
            <a:avLst/>
          </a:prstGeom>
        </p:spPr>
        <p:txBody>
          <a:bodyPr anchor="t" rtlCol="false" tIns="0" lIns="0" bIns="0" rIns="0">
            <a:spAutoFit/>
          </a:bodyPr>
          <a:lstStyle/>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Sử</a:t>
            </a:r>
            <a:r>
              <a:rPr lang="en-US" sz="3037">
                <a:solidFill>
                  <a:srgbClr val="2D2261"/>
                </a:solidFill>
                <a:latin typeface="Red Hat Display"/>
                <a:ea typeface="Red Hat Display"/>
                <a:cs typeface="Red Hat Display"/>
                <a:sym typeface="Red Hat Display"/>
              </a:rPr>
              <a:t> dụng chuỗi log return để xây dựng mô hình GARCH.</a:t>
            </a:r>
          </a:p>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Không sử dụng trực tiếp giá cổ phiếu.</a:t>
            </a:r>
          </a:p>
          <a:p>
            <a:pPr algn="ctr">
              <a:lnSpc>
                <a:spcPts val="4252"/>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3073266"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giá đóng cửa (close_price.png)</a:t>
            </a:r>
          </a:p>
        </p:txBody>
      </p:sp>
      <p:sp>
        <p:nvSpPr>
          <p:cNvPr name="TextBox 9" id="9"/>
          <p:cNvSpPr txBox="true"/>
          <p:nvPr/>
        </p:nvSpPr>
        <p:spPr>
          <a:xfrm rot="0">
            <a:off x="11901549"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log return (returns.png)</a:t>
            </a:r>
          </a:p>
        </p:txBody>
      </p:sp>
      <p:sp>
        <p:nvSpPr>
          <p:cNvPr name="TextBox 10" id="10"/>
          <p:cNvSpPr txBox="true"/>
          <p:nvPr/>
        </p:nvSpPr>
        <p:spPr>
          <a:xfrm rot="0">
            <a:off x="6318024" y="8837990"/>
            <a:ext cx="5975747" cy="993779"/>
          </a:xfrm>
          <a:prstGeom prst="rect">
            <a:avLst/>
          </a:prstGeom>
        </p:spPr>
        <p:txBody>
          <a:bodyPr anchor="t" rtlCol="false" tIns="0" lIns="0" bIns="0" rIns="0">
            <a:spAutoFit/>
          </a:bodyPr>
          <a:lstStyle/>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G</a:t>
            </a:r>
            <a:r>
              <a:rPr lang="en-US" b="true" sz="2874">
                <a:solidFill>
                  <a:srgbClr val="2D2261"/>
                </a:solidFill>
                <a:latin typeface="Red Hat Display Bold"/>
                <a:ea typeface="Red Hat Display Bold"/>
                <a:cs typeface="Red Hat Display Bold"/>
                <a:sym typeface="Red Hat Display Bold"/>
              </a:rPr>
              <a:t>iá cổ phiếu tăng trong dài hạn</a:t>
            </a:r>
          </a:p>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Return dao động quanh 0</a:t>
            </a:r>
          </a:p>
        </p:txBody>
      </p:sp>
      <p:sp>
        <p:nvSpPr>
          <p:cNvPr name="TextBox 11" id="11"/>
          <p:cNvSpPr txBox="true"/>
          <p:nvPr/>
        </p:nvSpPr>
        <p:spPr>
          <a:xfrm rot="0">
            <a:off x="6537321" y="8270296"/>
            <a:ext cx="1637556" cy="488954"/>
          </a:xfrm>
          <a:prstGeom prst="rect">
            <a:avLst/>
          </a:prstGeom>
        </p:spPr>
        <p:txBody>
          <a:bodyPr anchor="t" rtlCol="false" tIns="0" lIns="0" bIns="0" rIns="0">
            <a:spAutoFit/>
          </a:bodyPr>
          <a:lstStyle/>
          <a:p>
            <a:pPr algn="ctr">
              <a:lnSpc>
                <a:spcPts val="4024"/>
              </a:lnSpc>
              <a:spcBef>
                <a:spcPct val="0"/>
              </a:spcBef>
            </a:pPr>
            <a:r>
              <a:rPr lang="en-US" b="true" sz="28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2690230" y="6459614"/>
            <a:ext cx="4282833"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a:t>
            </a:r>
            <a:r>
              <a:rPr lang="en-US" b="true" sz="2774">
                <a:solidFill>
                  <a:srgbClr val="2D2261"/>
                </a:solidFill>
                <a:latin typeface="Red Hat Display Bold"/>
                <a:ea typeface="Red Hat Display Bold"/>
                <a:cs typeface="Red Hat Display Bold"/>
                <a:sym typeface="Red Hat Display Bold"/>
              </a:rPr>
              <a:t>istogram (return_distribution.png)</a:t>
            </a:r>
          </a:p>
        </p:txBody>
      </p:sp>
      <p:sp>
        <p:nvSpPr>
          <p:cNvPr name="TextBox 9" id="9"/>
          <p:cNvSpPr txBox="true"/>
          <p:nvPr/>
        </p:nvSpPr>
        <p:spPr>
          <a:xfrm rot="0">
            <a:off x="11816211" y="6459614"/>
            <a:ext cx="3803318"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Sq</a:t>
            </a:r>
            <a:r>
              <a:rPr lang="en-US" b="true" sz="2774">
                <a:solidFill>
                  <a:srgbClr val="2D2261"/>
                </a:solidFill>
                <a:latin typeface="Red Hat Display Bold"/>
                <a:ea typeface="Red Hat Display Bold"/>
                <a:cs typeface="Red Hat Display Bold"/>
                <a:sym typeface="Red Hat Display Bold"/>
              </a:rPr>
              <a:t>uared Returns (squared_returns.png)</a:t>
            </a:r>
          </a:p>
        </p:txBody>
      </p:sp>
      <p:sp>
        <p:nvSpPr>
          <p:cNvPr name="TextBox 10" id="10"/>
          <p:cNvSpPr txBox="true"/>
          <p:nvPr/>
        </p:nvSpPr>
        <p:spPr>
          <a:xfrm rot="0">
            <a:off x="4532040" y="8432842"/>
            <a:ext cx="9223921" cy="1434469"/>
          </a:xfrm>
          <a:prstGeom prst="rect">
            <a:avLst/>
          </a:prstGeom>
        </p:spPr>
        <p:txBody>
          <a:bodyPr anchor="t" rtlCol="false" tIns="0" lIns="0" bIns="0" rIns="0">
            <a:spAutoFit/>
          </a:bodyPr>
          <a:lstStyle/>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Histogram</a:t>
            </a:r>
            <a:r>
              <a:rPr lang="en-US" b="true" sz="2774">
                <a:solidFill>
                  <a:srgbClr val="2D2261"/>
                </a:solidFill>
                <a:latin typeface="Red Hat Display Bold"/>
                <a:ea typeface="Red Hat Display Bold"/>
                <a:cs typeface="Red Hat Display Bold"/>
                <a:sym typeface="Red Hat Display Bold"/>
              </a:rPr>
              <a:t> có đuôi dày hơn phân phối chuẩn</a:t>
            </a:r>
          </a:p>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Squared Returns xuấ</a:t>
            </a:r>
            <a:r>
              <a:rPr lang="en-US" b="true" sz="2774">
                <a:solidFill>
                  <a:srgbClr val="2D2261"/>
                </a:solidFill>
                <a:latin typeface="Red Hat Display Bold"/>
                <a:ea typeface="Red Hat Display Bold"/>
                <a:cs typeface="Red Hat Display Bold"/>
                <a:sym typeface="Red Hat Display Bold"/>
              </a:rPr>
              <a:t>t hiện các cụm biến động mạnh</a:t>
            </a:r>
          </a:p>
          <a:p>
            <a:pPr algn="l">
              <a:lnSpc>
                <a:spcPts val="3884"/>
              </a:lnSpc>
              <a:spcBef>
                <a:spcPct val="0"/>
              </a:spcBef>
            </a:pPr>
            <a:r>
              <a:rPr lang="en-US" b="true" sz="2774">
                <a:solidFill>
                  <a:srgbClr val="2D2261"/>
                </a:solidFill>
                <a:latin typeface="Red Hat Display Bold"/>
                <a:ea typeface="Red Hat Display Bold"/>
                <a:cs typeface="Red Hat Display Bold"/>
                <a:sym typeface="Red Hat Display Bold"/>
              </a:rPr>
              <a:t>    → </a:t>
            </a:r>
            <a:r>
              <a:rPr lang="en-US" b="true" sz="2774">
                <a:solidFill>
                  <a:srgbClr val="2D2261"/>
                </a:solidFill>
                <a:latin typeface="Red Hat Display Bold"/>
                <a:ea typeface="Red Hat Display Bold"/>
                <a:cs typeface="Red Hat Display Bold"/>
                <a:sym typeface="Red Hat Display Bold"/>
              </a:rPr>
              <a:t>Phù hợp áp dụng mô hình GARCH</a:t>
            </a:r>
          </a:p>
        </p:txBody>
      </p:sp>
      <p:sp>
        <p:nvSpPr>
          <p:cNvPr name="TextBox 11" id="11"/>
          <p:cNvSpPr txBox="true"/>
          <p:nvPr/>
        </p:nvSpPr>
        <p:spPr>
          <a:xfrm rot="0">
            <a:off x="4779837" y="7865148"/>
            <a:ext cx="1580555" cy="462919"/>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5468983" y="9044573"/>
            <a:ext cx="7907020" cy="6699403"/>
          </a:xfrm>
          <a:custGeom>
            <a:avLst/>
            <a:gdLst/>
            <a:ahLst/>
            <a:cxnLst/>
            <a:rect r="r" b="b" t="t" l="l"/>
            <a:pathLst>
              <a:path h="6699403" w="7907020">
                <a:moveTo>
                  <a:pt x="0" y="0"/>
                </a:moveTo>
                <a:lnTo>
                  <a:pt x="7907020" y="0"/>
                </a:lnTo>
                <a:lnTo>
                  <a:pt x="7907020"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6366739" y="8897577"/>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50574" y="5371070"/>
          <a:ext cx="8699687" cy="3379633"/>
        </p:xfrm>
        <a:graphic>
          <a:graphicData uri="http://schemas.openxmlformats.org/drawingml/2006/table">
            <a:tbl>
              <a:tblPr/>
              <a:tblGrid>
                <a:gridCol w="1711569"/>
                <a:gridCol w="1518254"/>
                <a:gridCol w="1489485"/>
                <a:gridCol w="3980379"/>
              </a:tblGrid>
              <a:tr h="924826">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Chuỗi</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ADF statistic</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p-value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Kết luận (5%)</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544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-1,7892</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0,6676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482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log_close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-1,3194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0,8665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604538">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−13,7914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≤0,01</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Bác bỏ </a:t>
                      </a:r>
                      <a:r>
                        <a:rPr lang="en-US" sz="2400">
                          <a:solidFill>
                            <a:srgbClr val="000000"/>
                          </a:solidFill>
                          <a:latin typeface="Red Hat Display"/>
                          <a:ea typeface="Red Hat Display"/>
                          <a:cs typeface="Red Hat Display"/>
                          <a:sym typeface="Red Hat Display"/>
                        </a:rPr>
                        <a:t>H₀​ → Đã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10" id="10"/>
          <p:cNvSpPr/>
          <p:nvPr/>
        </p:nvSpPr>
        <p:spPr>
          <a:xfrm flipH="false" flipV="false" rot="0">
            <a:off x="10257183" y="4497945"/>
            <a:ext cx="7642301" cy="4585380"/>
          </a:xfrm>
          <a:custGeom>
            <a:avLst/>
            <a:gdLst/>
            <a:ahLst/>
            <a:cxnLst/>
            <a:rect r="r" b="b" t="t" l="l"/>
            <a:pathLst>
              <a:path h="4585380" w="7642301">
                <a:moveTo>
                  <a:pt x="0" y="0"/>
                </a:moveTo>
                <a:lnTo>
                  <a:pt x="7642300" y="0"/>
                </a:lnTo>
                <a:lnTo>
                  <a:pt x="7642300" y="4585380"/>
                </a:lnTo>
                <a:lnTo>
                  <a:pt x="0" y="4585380"/>
                </a:lnTo>
                <a:lnTo>
                  <a:pt x="0" y="0"/>
                </a:lnTo>
                <a:close/>
              </a:path>
            </a:pathLst>
          </a:custGeom>
          <a:blipFill>
            <a:blip r:embed="rId10"/>
            <a:stretch>
              <a:fillRect l="0" t="0" r="0" b="0"/>
            </a:stretch>
          </a:blipFill>
        </p:spPr>
      </p:sp>
      <p:sp>
        <p:nvSpPr>
          <p:cNvPr name="TextBox 11" id="11"/>
          <p:cNvSpPr txBox="true"/>
          <p:nvPr/>
        </p:nvSpPr>
        <p:spPr>
          <a:xfrm rot="0">
            <a:off x="5088224" y="332856"/>
            <a:ext cx="8111553"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Kiểm định tính dừng (ADF)</a:t>
            </a:r>
          </a:p>
        </p:txBody>
      </p:sp>
      <p:sp>
        <p:nvSpPr>
          <p:cNvPr name="TextBox 12" id="12"/>
          <p:cNvSpPr txBox="true"/>
          <p:nvPr/>
        </p:nvSpPr>
        <p:spPr>
          <a:xfrm rot="0">
            <a:off x="973273" y="1535124"/>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Tính dừng là</a:t>
            </a:r>
            <a:r>
              <a:rPr lang="en-US" b="true" sz="2499">
                <a:solidFill>
                  <a:srgbClr val="000000"/>
                </a:solidFill>
                <a:latin typeface="Red Hat Display Bold"/>
                <a:ea typeface="Red Hat Display Bold"/>
                <a:cs typeface="Red Hat Display Bold"/>
                <a:sym typeface="Red Hat Display Bold"/>
              </a:rPr>
              <a:t> gì?</a:t>
            </a:r>
            <a:r>
              <a:rPr lang="en-US" sz="2499">
                <a:solidFill>
                  <a:srgbClr val="000000"/>
                </a:solidFill>
                <a:latin typeface="Red Hat Display"/>
                <a:ea typeface="Red Hat Display"/>
                <a:cs typeface="Red Hat Display"/>
                <a:sym typeface="Red Hat Display"/>
              </a:rPr>
              <a:t> Là khi dữ liệu có trung bình và phương sai ổn định, không bị xu hướng tăng/giảm vĩnh viễn chi phối. Nhiều mô hình chuỗi thời gian yêu cầu thành phần được mô hình hóa phải dừng. ARIMA có thể xử lý chuỗi giá không dừng bằng sai phân; ETS mô hình hóa level và trend thay đổi theo thời gian.</a:t>
            </a:r>
          </a:p>
        </p:txBody>
      </p:sp>
      <p:sp>
        <p:nvSpPr>
          <p:cNvPr name="TextBox 13" id="13"/>
          <p:cNvSpPr txBox="true"/>
          <p:nvPr/>
        </p:nvSpPr>
        <p:spPr>
          <a:xfrm rot="0">
            <a:off x="973273" y="4043920"/>
            <a:ext cx="8676988" cy="86042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Kiểm định ADF: </a:t>
            </a:r>
            <a:r>
              <a:rPr lang="en-US" sz="2499">
                <a:solidFill>
                  <a:srgbClr val="000000"/>
                </a:solidFill>
                <a:latin typeface="Red Hat Display"/>
                <a:ea typeface="Red Hat Display"/>
                <a:cs typeface="Red Hat Display"/>
                <a:sym typeface="Red Hat Display"/>
              </a:rPr>
              <a:t>H₀​</a:t>
            </a:r>
            <a:r>
              <a:rPr lang="en-US" sz="2499">
                <a:solidFill>
                  <a:srgbClr val="000000"/>
                </a:solidFill>
                <a:latin typeface="Red Hat Display"/>
                <a:ea typeface="Red Hat Display"/>
                <a:cs typeface="Red Hat Display"/>
                <a:sym typeface="Red Hat Display"/>
              </a:rPr>
              <a:t> = chuỗi không dừng; H₁​ = chuỗi dừng. (Nếu p-value &lt; 5%, bác bỏ H₀​).</a:t>
            </a:r>
          </a:p>
        </p:txBody>
      </p:sp>
      <p:sp>
        <p:nvSpPr>
          <p:cNvPr name="TextBox 14" id="14"/>
          <p:cNvSpPr txBox="true"/>
          <p:nvPr/>
        </p:nvSpPr>
        <p:spPr>
          <a:xfrm rot="0">
            <a:off x="9858814" y="1665844"/>
            <a:ext cx="8676988" cy="2613025"/>
          </a:xfrm>
          <a:prstGeom prst="rect">
            <a:avLst/>
          </a:prstGeom>
        </p:spPr>
        <p:txBody>
          <a:bodyPr anchor="t" rtlCol="false" tIns="0" lIns="0" bIns="0" rIns="0">
            <a:spAutoFit/>
          </a:bodyPr>
          <a:lstStyle/>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Giá đóng cửa (close)</a:t>
            </a:r>
            <a:r>
              <a:rPr lang="en-US" sz="2499">
                <a:solidFill>
                  <a:srgbClr val="000000"/>
                </a:solidFill>
                <a:latin typeface="Red Hat Display"/>
                <a:ea typeface="Red Hat Display"/>
                <a:cs typeface="Red Hat Display"/>
                <a:sym typeface="Red Hat Display"/>
              </a:rPr>
              <a:t> không dừng → Vẫn dùng cho mô hình dự báo giá (do ARIMA/ETS có cơ chế tự xử lý tính không dừng).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Lợi suất (return)</a:t>
            </a:r>
            <a:r>
              <a:rPr lang="en-US" sz="2499">
                <a:solidFill>
                  <a:srgbClr val="000000"/>
                </a:solidFill>
                <a:latin typeface="Red Hat Display"/>
                <a:ea typeface="Red Hat Display"/>
                <a:cs typeface="Red Hat Display"/>
                <a:sym typeface="Red Hat Display"/>
              </a:rPr>
              <a:t> đã dừng → Phù hợp làm đầu vào cho mô hình phương sai có điều kiện GARCH.</a:t>
            </a:r>
          </a:p>
          <a:p>
            <a:pPr algn="l">
              <a:lnSpc>
                <a:spcPts val="3499"/>
              </a:lnSpc>
            </a:pPr>
          </a:p>
        </p:txBody>
      </p:sp>
      <p:sp>
        <p:nvSpPr>
          <p:cNvPr name="TextBox 15" id="15"/>
          <p:cNvSpPr txBox="true"/>
          <p:nvPr/>
        </p:nvSpPr>
        <p:spPr>
          <a:xfrm rot="0">
            <a:off x="10468806" y="9276023"/>
            <a:ext cx="7457004" cy="330200"/>
          </a:xfrm>
          <a:prstGeom prst="rect">
            <a:avLst/>
          </a:prstGeom>
        </p:spPr>
        <p:txBody>
          <a:bodyPr anchor="t" rtlCol="false" tIns="0" lIns="0" bIns="0" rIns="0">
            <a:spAutoFit/>
          </a:bodyPr>
          <a:lstStyle/>
          <a:p>
            <a:pPr algn="ctr">
              <a:lnSpc>
                <a:spcPts val="2799"/>
              </a:lnSpc>
              <a:spcBef>
                <a:spcPct val="0"/>
              </a:spcBef>
            </a:pPr>
            <a:r>
              <a:rPr lang="en-US" sz="1999" i="true">
                <a:solidFill>
                  <a:srgbClr val="000000"/>
                </a:solidFill>
                <a:latin typeface="Red Hat Display Italics"/>
                <a:ea typeface="Red Hat Display Italics"/>
                <a:cs typeface="Red Hat Display Italics"/>
                <a:sym typeface="Red Hat Display Italics"/>
              </a:rPr>
              <a:t>Log return dao động quanh 0, nhưng biên độ thay đổi theo thời gian.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6760339" y="7009046"/>
            <a:ext cx="7907020" cy="6699403"/>
          </a:xfrm>
          <a:custGeom>
            <a:avLst/>
            <a:gdLst/>
            <a:ahLst/>
            <a:cxnLst/>
            <a:rect r="r" b="b" t="t" l="l"/>
            <a:pathLst>
              <a:path h="6699403" w="7907020">
                <a:moveTo>
                  <a:pt x="0" y="0"/>
                </a:moveTo>
                <a:lnTo>
                  <a:pt x="7907021" y="0"/>
                </a:lnTo>
                <a:lnTo>
                  <a:pt x="7907021"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5048903" y="8714018"/>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144000" y="2116145"/>
          <a:ext cx="8676988" cy="6442916"/>
        </p:xfrm>
        <a:graphic>
          <a:graphicData uri="http://schemas.openxmlformats.org/drawingml/2006/table">
            <a:tbl>
              <a:tblPr/>
              <a:tblGrid>
                <a:gridCol w="2881837"/>
                <a:gridCol w="5795150"/>
              </a:tblGrid>
              <a:tr h="919226">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Mô hình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Thuật toán / Ý tưởng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78712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Naive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Giá mai = giá hôm nay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9803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Drift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Random walk có độ trôi trung bình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72757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Tự hồi quy + sai phân + trung bình trượt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19839">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thành phần mùa vụ (thử nghiệm chu kỳ 5 phiên)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045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State-space: Error-Trend-Seasonality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1922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Damped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với xu hướng tắt dần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651444">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ARIMAX Lagged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lag volume, lag range, lag 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10" id="10"/>
          <p:cNvSpPr txBox="true"/>
          <p:nvPr/>
        </p:nvSpPr>
        <p:spPr>
          <a:xfrm rot="0">
            <a:off x="3231356" y="332856"/>
            <a:ext cx="12948664"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Giới thiệu mô hình và thuật toán dự báo giá</a:t>
            </a:r>
          </a:p>
        </p:txBody>
      </p:sp>
      <p:sp>
        <p:nvSpPr>
          <p:cNvPr name="TextBox 11" id="11"/>
          <p:cNvSpPr txBox="true"/>
          <p:nvPr/>
        </p:nvSpPr>
        <p:spPr>
          <a:xfrm rot="0">
            <a:off x="1028700" y="3738973"/>
            <a:ext cx="7702243" cy="392747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Thiết kế đánh giá:</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Holdout 30 phiên: </a:t>
            </a:r>
            <a:r>
              <a:rPr lang="en-US" sz="2499">
                <a:solidFill>
                  <a:srgbClr val="000000"/>
                </a:solidFill>
                <a:latin typeface="Red Hat Display"/>
                <a:ea typeface="Red Hat Display"/>
                <a:cs typeface="Red Hat Display"/>
                <a:sym typeface="Red Hat Display"/>
              </a:rPr>
              <a:t>Giữ lại 30 phiên cuối làm holdout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Rolling-origin CV: </a:t>
            </a:r>
            <a:r>
              <a:rPr lang="en-US" sz="2499">
                <a:solidFill>
                  <a:srgbClr val="000000"/>
                </a:solidFill>
                <a:latin typeface="Red Hat Display"/>
                <a:ea typeface="Red Hat Display"/>
                <a:cs typeface="Red Hat Display"/>
                <a:sym typeface="Red Hat Display"/>
              </a:rPr>
              <a:t>Đánh giá cuốn chiếu tịnh tiến để đo độ ổn định dài hạn.</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Metric: </a:t>
            </a:r>
            <a:r>
              <a:rPr lang="en-US" sz="2499">
                <a:solidFill>
                  <a:srgbClr val="000000"/>
                </a:solidFill>
                <a:latin typeface="Red Hat Display"/>
                <a:ea typeface="Red Hat Display"/>
                <a:cs typeface="Red Hat Display"/>
                <a:sym typeface="Red Hat Display"/>
              </a:rPr>
              <a:t>Dùng </a:t>
            </a:r>
            <a:r>
              <a:rPr lang="en-US" b="true" sz="2499">
                <a:solidFill>
                  <a:srgbClr val="000000"/>
                </a:solidFill>
                <a:latin typeface="Red Hat Display Bold"/>
                <a:ea typeface="Red Hat Display Bold"/>
                <a:cs typeface="Red Hat Display Bold"/>
                <a:sym typeface="Red Hat Display Bold"/>
              </a:rPr>
              <a:t>RMSE, MAE</a:t>
            </a:r>
            <a:r>
              <a:rPr lang="en-US" sz="2499">
                <a:solidFill>
                  <a:srgbClr val="000000"/>
                </a:solidFill>
                <a:latin typeface="Red Hat Display"/>
                <a:ea typeface="Red Hat Display"/>
                <a:cs typeface="Red Hat Display"/>
                <a:sym typeface="Red Hat Display"/>
              </a:rPr>
              <a:t>, </a:t>
            </a:r>
            <a:r>
              <a:rPr lang="en-US" b="true" sz="2499">
                <a:solidFill>
                  <a:srgbClr val="000000"/>
                </a:solidFill>
                <a:latin typeface="Red Hat Display Bold"/>
                <a:ea typeface="Red Hat Display Bold"/>
                <a:cs typeface="Red Hat Display Bold"/>
                <a:sym typeface="Red Hat Display Bold"/>
              </a:rPr>
              <a:t>MAPE </a:t>
            </a:r>
            <a:r>
              <a:rPr lang="en-US" sz="2499">
                <a:solidFill>
                  <a:srgbClr val="000000"/>
                </a:solidFill>
                <a:latin typeface="Red Hat Display"/>
                <a:ea typeface="Red Hat Display"/>
                <a:cs typeface="Red Hat Display"/>
                <a:sym typeface="Red Hat Display"/>
              </a:rPr>
              <a:t>để đo độ lệch sai số (số càng nhỏ càng tốt).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Ljung-Box Test: </a:t>
            </a:r>
            <a:r>
              <a:rPr lang="en-US" sz="2499">
                <a:solidFill>
                  <a:srgbClr val="000000"/>
                </a:solidFill>
                <a:latin typeface="Red Hat Display"/>
                <a:ea typeface="Red Hat Display"/>
                <a:cs typeface="Red Hat Display"/>
                <a:sym typeface="Red Hat Display"/>
              </a:rPr>
              <a:t>Dùng để chẩn đoán xem phần dư có còn sót quy luật nào không.</a:t>
            </a:r>
          </a:p>
        </p:txBody>
      </p:sp>
      <p:sp>
        <p:nvSpPr>
          <p:cNvPr name="TextBox 12" id="12"/>
          <p:cNvSpPr txBox="true"/>
          <p:nvPr/>
        </p:nvSpPr>
        <p:spPr>
          <a:xfrm rot="0">
            <a:off x="1028700" y="2849574"/>
            <a:ext cx="8676988" cy="422275"/>
          </a:xfrm>
          <a:prstGeom prst="rect">
            <a:avLst/>
          </a:prstGeom>
        </p:spPr>
        <p:txBody>
          <a:bodyPr anchor="t" rtlCol="false" tIns="0" lIns="0" bIns="0" rIns="0">
            <a:spAutoFit/>
          </a:bodyPr>
          <a:lstStyle/>
          <a:p>
            <a:pPr algn="l">
              <a:lnSpc>
                <a:spcPts val="3499"/>
              </a:lnSpc>
            </a:pPr>
            <a:r>
              <a:rPr lang="en-US" sz="2499">
                <a:solidFill>
                  <a:srgbClr val="000000"/>
                </a:solidFill>
                <a:latin typeface="Red Hat Display"/>
                <a:ea typeface="Red Hat Display"/>
                <a:cs typeface="Red Hat Display"/>
                <a:sym typeface="Red Hat Display"/>
              </a:rPr>
              <a:t>Gồm 7 mô hình dự báo</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6716564" y="8234740"/>
            <a:ext cx="7907020" cy="6699403"/>
          </a:xfrm>
          <a:custGeom>
            <a:avLst/>
            <a:gdLst/>
            <a:ahLst/>
            <a:cxnLst/>
            <a:rect r="r" b="b" t="t" l="l"/>
            <a:pathLst>
              <a:path h="6699403" w="7907020">
                <a:moveTo>
                  <a:pt x="0" y="0"/>
                </a:moveTo>
                <a:lnTo>
                  <a:pt x="7907021" y="0"/>
                </a:lnTo>
                <a:lnTo>
                  <a:pt x="7907021"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591645" y="-169866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5048903" y="902044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797362" y="1296065"/>
          <a:ext cx="6423399" cy="4000500"/>
        </p:xfrm>
        <a:graphic>
          <a:graphicData uri="http://schemas.openxmlformats.org/drawingml/2006/table">
            <a:tbl>
              <a:tblPr/>
              <a:tblGrid>
                <a:gridCol w="2182786"/>
                <a:gridCol w="2339392"/>
                <a:gridCol w="1901222"/>
              </a:tblGrid>
              <a:tr h="500062">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Model</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RMSE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MAPE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ETS Damped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1.939,13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2,10%</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Naive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1.939,85</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2,11%</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1.983,50</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2,19%</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1.986,72</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2,08%</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Drift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2.020,67</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2,23%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ARIMAX</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2.025,86</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2,24%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2.119,63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2,38%</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10" id="10"/>
          <p:cNvSpPr/>
          <p:nvPr/>
        </p:nvSpPr>
        <p:spPr>
          <a:xfrm flipH="false" flipV="false" rot="0">
            <a:off x="8237780" y="1028700"/>
            <a:ext cx="9887819" cy="5932692"/>
          </a:xfrm>
          <a:custGeom>
            <a:avLst/>
            <a:gdLst/>
            <a:ahLst/>
            <a:cxnLst/>
            <a:rect r="r" b="b" t="t" l="l"/>
            <a:pathLst>
              <a:path h="5932692" w="9887819">
                <a:moveTo>
                  <a:pt x="0" y="0"/>
                </a:moveTo>
                <a:lnTo>
                  <a:pt x="9887819" y="0"/>
                </a:lnTo>
                <a:lnTo>
                  <a:pt x="9887819" y="5932692"/>
                </a:lnTo>
                <a:lnTo>
                  <a:pt x="0" y="5932692"/>
                </a:lnTo>
                <a:lnTo>
                  <a:pt x="0" y="0"/>
                </a:lnTo>
                <a:close/>
              </a:path>
            </a:pathLst>
          </a:custGeom>
          <a:blipFill>
            <a:blip r:embed="rId10"/>
            <a:stretch>
              <a:fillRect l="0" t="0" r="0" b="0"/>
            </a:stretch>
          </a:blipFill>
        </p:spPr>
      </p:sp>
      <p:sp>
        <p:nvSpPr>
          <p:cNvPr name="TextBox 11" id="11"/>
          <p:cNvSpPr txBox="true"/>
          <p:nvPr/>
        </p:nvSpPr>
        <p:spPr>
          <a:xfrm rot="0">
            <a:off x="4009061" y="-635"/>
            <a:ext cx="11436870"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dự báo giá</a:t>
            </a:r>
          </a:p>
        </p:txBody>
      </p:sp>
      <p:sp>
        <p:nvSpPr>
          <p:cNvPr name="TextBox 12" id="12"/>
          <p:cNvSpPr txBox="true"/>
          <p:nvPr/>
        </p:nvSpPr>
        <p:spPr>
          <a:xfrm rot="0">
            <a:off x="797362" y="5328981"/>
            <a:ext cx="8082702" cy="524192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Đá</a:t>
            </a:r>
            <a:r>
              <a:rPr lang="en-US" sz="2499" b="true">
                <a:solidFill>
                  <a:srgbClr val="000000"/>
                </a:solidFill>
                <a:latin typeface="Red Hat Display Bold"/>
                <a:ea typeface="Red Hat Display Bold"/>
                <a:cs typeface="Red Hat Display Bold"/>
                <a:sym typeface="Red Hat Display Bold"/>
              </a:rPr>
              <a:t>nh giá hiệu suất: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Holdout 30 phiên:</a:t>
            </a:r>
            <a:r>
              <a:rPr lang="en-US" sz="2499">
                <a:solidFill>
                  <a:srgbClr val="000000"/>
                </a:solidFill>
                <a:latin typeface="Red Hat Display"/>
                <a:ea typeface="Red Hat Display"/>
                <a:cs typeface="Red Hat Display"/>
                <a:sym typeface="Red Hat Display"/>
              </a:rPr>
              <a:t> ETS Damped có RMSE holdout thấp nhất (nhưng chỉ hơn Naive</a:t>
            </a:r>
            <a:r>
              <a:rPr lang="en-US" sz="2499">
                <a:solidFill>
                  <a:srgbClr val="000000"/>
                </a:solidFill>
                <a:latin typeface="Red Hat Display"/>
                <a:ea typeface="Red Hat Display"/>
                <a:cs typeface="Red Hat Display"/>
                <a:sym typeface="Red Hat Display"/>
              </a:rPr>
              <a:t> </a:t>
            </a:r>
            <a:r>
              <a:rPr lang="en-US" sz="2499">
                <a:solidFill>
                  <a:srgbClr val="000000"/>
                </a:solidFill>
                <a:latin typeface="Red Hat Display"/>
                <a:ea typeface="Red Hat Display"/>
                <a:cs typeface="Red Hat Display"/>
                <a:sym typeface="Red Hat Display"/>
              </a:rPr>
              <a:t>0,72). Mô hình này không thắng hoàn toàn (ETS có MAPE 2,08%, thấp hơn ETS Damped 2,10%).</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Rolling-origin CV: </a:t>
            </a:r>
            <a:r>
              <a:rPr lang="en-US" sz="2499">
                <a:solidFill>
                  <a:srgbClr val="000000"/>
                </a:solidFill>
                <a:latin typeface="Red Hat Display"/>
                <a:ea typeface="Red Hat Display"/>
                <a:cs typeface="Red Hat Display"/>
                <a:sym typeface="Red Hat Display"/>
              </a:rPr>
              <a:t>Khi thử nghiệm cuộn trên nhiều giai đoạn khác nhau của lịch sử, mô hình ngây thơ Naive lại là mô hình ổn định nhất.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Kiểm định Ljung-Box: </a:t>
            </a:r>
            <a:r>
              <a:rPr lang="en-US" sz="2499">
                <a:solidFill>
                  <a:srgbClr val="000000"/>
                </a:solidFill>
                <a:latin typeface="Red Hat Display"/>
                <a:ea typeface="Red Hat Display"/>
                <a:cs typeface="Red Hat Display"/>
                <a:sym typeface="Red Hat Display"/>
              </a:rPr>
              <a:t>Tất cả các mô hình đều thất bại trong việc đưa sai số về dạng nhiễu trắng (vẫn còn hiện tượng tự tương quan phần dư).</a:t>
            </a:r>
          </a:p>
          <a:p>
            <a:pPr algn="l">
              <a:lnSpc>
                <a:spcPts val="3499"/>
              </a:lnSpc>
            </a:pPr>
          </a:p>
        </p:txBody>
      </p:sp>
      <p:sp>
        <p:nvSpPr>
          <p:cNvPr name="TextBox 13" id="13"/>
          <p:cNvSpPr txBox="true"/>
          <p:nvPr/>
        </p:nvSpPr>
        <p:spPr>
          <a:xfrm rot="0">
            <a:off x="771624" y="793750"/>
            <a:ext cx="8676988" cy="4222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Bảng</a:t>
            </a:r>
            <a:r>
              <a:rPr lang="en-US" b="true" sz="2499">
                <a:solidFill>
                  <a:srgbClr val="000000"/>
                </a:solidFill>
                <a:latin typeface="Red Hat Display Bold"/>
                <a:ea typeface="Red Hat Display Bold"/>
                <a:cs typeface="Red Hat Display Bold"/>
                <a:sym typeface="Red Hat Display Bold"/>
              </a:rPr>
              <a:t> kết quả Holdout (30 phiên):</a:t>
            </a:r>
          </a:p>
        </p:txBody>
      </p:sp>
      <p:sp>
        <p:nvSpPr>
          <p:cNvPr name="TextBox 14" id="14"/>
          <p:cNvSpPr txBox="true"/>
          <p:nvPr/>
        </p:nvSpPr>
        <p:spPr>
          <a:xfrm rot="0">
            <a:off x="11799118" y="6996003"/>
            <a:ext cx="3975973" cy="330200"/>
          </a:xfrm>
          <a:prstGeom prst="rect">
            <a:avLst/>
          </a:prstGeom>
        </p:spPr>
        <p:txBody>
          <a:bodyPr anchor="t" rtlCol="false" tIns="0" lIns="0" bIns="0" rIns="0">
            <a:spAutoFit/>
          </a:bodyPr>
          <a:lstStyle/>
          <a:p>
            <a:pPr algn="ctr">
              <a:lnSpc>
                <a:spcPts val="2799"/>
              </a:lnSpc>
              <a:spcBef>
                <a:spcPct val="0"/>
              </a:spcBef>
            </a:pPr>
            <a:r>
              <a:rPr lang="en-US" sz="1999" i="true">
                <a:solidFill>
                  <a:srgbClr val="000000"/>
                </a:solidFill>
                <a:latin typeface="Red Hat Display Italics"/>
                <a:ea typeface="Red Hat Display Italics"/>
                <a:cs typeface="Red Hat Display Italics"/>
                <a:sym typeface="Red Hat Display Italics"/>
              </a:rPr>
              <a:t>Mô hình có RMSE holdout thấp nhất</a:t>
            </a:r>
          </a:p>
        </p:txBody>
      </p:sp>
      <p:sp>
        <p:nvSpPr>
          <p:cNvPr name="TextBox 15" id="15"/>
          <p:cNvSpPr txBox="true"/>
          <p:nvPr/>
        </p:nvSpPr>
        <p:spPr>
          <a:xfrm rot="0">
            <a:off x="9448611" y="7528267"/>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Kết luận rú</a:t>
            </a:r>
            <a:r>
              <a:rPr lang="en-US" b="true" sz="2499">
                <a:solidFill>
                  <a:srgbClr val="000000"/>
                </a:solidFill>
                <a:latin typeface="Red Hat Display Bold"/>
                <a:ea typeface="Red Hat Display Bold"/>
                <a:cs typeface="Red Hat Display Bold"/>
                <a:sym typeface="Red Hat Display Bold"/>
              </a:rPr>
              <a:t>t ra: </a:t>
            </a:r>
            <a:r>
              <a:rPr lang="en-US" sz="2499">
                <a:solidFill>
                  <a:srgbClr val="000000"/>
                </a:solidFill>
                <a:latin typeface="Red Hat Display"/>
                <a:ea typeface="Red Hat Display"/>
                <a:cs typeface="Red Hat Display"/>
                <a:sym typeface="Red Hat Display"/>
              </a:rPr>
              <a:t>Không có bằng chứng nào cho thấy các mô hình phức tạp đánh bại được thuật toán ngây thơ Naive một cách ổn định. Trong dữ liệu và thiết kế đánh giá hiện tại, benchmark Naive rất cạnh tranh, cho thấy mức giá FPT khó dự báo ổn định bằng các mô hình phức tạp đã thử.</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Bài toán conditional volatility</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64565" y="7092950"/>
            <a:ext cx="16230600" cy="2165350"/>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Forecast giá trả lời mức giá kỳ vọng; GARCH trả lời mức biến động có điều kiện.</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Log return: rₜ = log(Pₜ) − log(Pₜ₋₁); chuỗi dừng theo ADF.</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Return dao động quanh 0 nhưng </a:t>
            </a:r>
            <a:r>
              <a:rPr lang="en-US" sz="2499">
                <a:solidFill>
                  <a:srgbClr val="2D2261"/>
                </a:solidFill>
                <a:latin typeface="Roboto Slab"/>
                <a:ea typeface="Roboto Slab"/>
                <a:cs typeface="Roboto Slab"/>
                <a:sym typeface="Roboto Slab"/>
              </a:rPr>
              <a:t>rₜ² xuất hiện theo cụm lớn/nhỏ → volatility clustering.</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ARCH-LM: H₀ = không có ARCH effect; p ≈ 1,09 × 10⁻³⁸ → bác bỏ H₀.</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Quyết định: dùng 2.786 log returns để mô hình hóa variance thay đổi theo thời gian.</a:t>
            </a:r>
          </a:p>
        </p:txBody>
      </p:sp>
      <p:sp>
        <p:nvSpPr>
          <p:cNvPr name="Freeform 11" id="11"/>
          <p:cNvSpPr/>
          <p:nvPr/>
        </p:nvSpPr>
        <p:spPr>
          <a:xfrm flipH="false" flipV="false" rot="0">
            <a:off x="4552016" y="1367605"/>
            <a:ext cx="9183969" cy="5510381"/>
          </a:xfrm>
          <a:custGeom>
            <a:avLst/>
            <a:gdLst/>
            <a:ahLst/>
            <a:cxnLst/>
            <a:rect r="r" b="b" t="t" l="l"/>
            <a:pathLst>
              <a:path h="5510381" w="9183969">
                <a:moveTo>
                  <a:pt x="0" y="0"/>
                </a:moveTo>
                <a:lnTo>
                  <a:pt x="9183968" y="0"/>
                </a:lnTo>
                <a:lnTo>
                  <a:pt x="9183968" y="5510381"/>
                </a:lnTo>
                <a:lnTo>
                  <a:pt x="0" y="5510381"/>
                </a:lnTo>
                <a:lnTo>
                  <a:pt x="0" y="0"/>
                </a:lnTo>
                <a:close/>
              </a:path>
            </a:pathLst>
          </a:custGeom>
          <a:blipFill>
            <a:blip r:embed="rId10"/>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Lý thuyết về GARCH(1,1)</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618111" y="2085022"/>
            <a:ext cx="6144338" cy="507752"/>
          </a:xfrm>
          <a:custGeom>
            <a:avLst/>
            <a:gdLst/>
            <a:ahLst/>
            <a:cxnLst/>
            <a:rect r="r" b="b" t="t" l="l"/>
            <a:pathLst>
              <a:path h="507752" w="6144338">
                <a:moveTo>
                  <a:pt x="0" y="0"/>
                </a:moveTo>
                <a:lnTo>
                  <a:pt x="6144338" y="0"/>
                </a:lnTo>
                <a:lnTo>
                  <a:pt x="6144338" y="507752"/>
                </a:lnTo>
                <a:lnTo>
                  <a:pt x="0" y="507752"/>
                </a:lnTo>
                <a:lnTo>
                  <a:pt x="0" y="0"/>
                </a:lnTo>
                <a:close/>
              </a:path>
            </a:pathLst>
          </a:custGeom>
          <a:blipFill>
            <a:blip r:embed="rId10"/>
            <a:stretch>
              <a:fillRect l="0" t="-108201" r="0" b="-2733"/>
            </a:stretch>
          </a:blipFill>
        </p:spPr>
      </p:sp>
      <p:sp>
        <p:nvSpPr>
          <p:cNvPr name="Freeform 11" id="11"/>
          <p:cNvSpPr/>
          <p:nvPr/>
        </p:nvSpPr>
        <p:spPr>
          <a:xfrm flipH="false" flipV="false" rot="0">
            <a:off x="618111" y="2592774"/>
            <a:ext cx="6103435" cy="642192"/>
          </a:xfrm>
          <a:custGeom>
            <a:avLst/>
            <a:gdLst/>
            <a:ahLst/>
            <a:cxnLst/>
            <a:rect r="r" b="b" t="t" l="l"/>
            <a:pathLst>
              <a:path h="642192" w="6103435">
                <a:moveTo>
                  <a:pt x="0" y="0"/>
                </a:moveTo>
                <a:lnTo>
                  <a:pt x="6103435" y="0"/>
                </a:lnTo>
                <a:lnTo>
                  <a:pt x="6103435" y="642192"/>
                </a:lnTo>
                <a:lnTo>
                  <a:pt x="0" y="642192"/>
                </a:lnTo>
                <a:lnTo>
                  <a:pt x="0" y="0"/>
                </a:lnTo>
                <a:close/>
              </a:path>
            </a:pathLst>
          </a:custGeom>
          <a:blipFill>
            <a:blip r:embed="rId11"/>
            <a:stretch>
              <a:fillRect l="0" t="-76328" r="0" b="-2733"/>
            </a:stretch>
          </a:blipFill>
        </p:spPr>
      </p:sp>
      <p:sp>
        <p:nvSpPr>
          <p:cNvPr name="TextBox 12" id="12"/>
          <p:cNvSpPr txBox="true"/>
          <p:nvPr/>
        </p:nvSpPr>
        <p:spPr>
          <a:xfrm rot="0">
            <a:off x="0" y="3388872"/>
            <a:ext cx="7828767" cy="5434330"/>
          </a:xfrm>
          <a:prstGeom prst="rect">
            <a:avLst/>
          </a:prstGeom>
        </p:spPr>
        <p:txBody>
          <a:bodyPr anchor="t" rtlCol="false" tIns="0" lIns="0" bIns="0" rIns="0">
            <a:spAutoFit/>
          </a:bodyPr>
          <a:lstStyle/>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Forecast giá trả lời mức giá kỳ vọng; GARCH trả lời mức biến động có điều kiện.</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Log return: rₜ = log(Pₜ) − log(Pₜ₋₁); chuỗi dừng theo ADF.</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Return dao động quanh 0 nhưng </a:t>
            </a:r>
            <a:r>
              <a:rPr lang="en-US" sz="2799">
                <a:solidFill>
                  <a:srgbClr val="2D2261"/>
                </a:solidFill>
                <a:latin typeface="Roboto Slab"/>
                <a:ea typeface="Roboto Slab"/>
                <a:cs typeface="Roboto Slab"/>
                <a:sym typeface="Roboto Slab"/>
              </a:rPr>
              <a:t>rₜ² xuất hiện theo cụm lớn/nhỏ → volatility clustering.</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ARCH-LM: H₀ = không có ARCH effect; p ≈ 1,09 × 10⁻³⁸ → bác bỏ H₀.</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Quyết định: dùng 2.786 log returns để mô hình hóa variance thay đổi theo thời gian.</a:t>
            </a:r>
          </a:p>
        </p:txBody>
      </p:sp>
      <p:graphicFrame>
        <p:nvGraphicFramePr>
          <p:cNvPr name="Table 13" id="13"/>
          <p:cNvGraphicFramePr>
            <a:graphicFrameLocks noGrp="true"/>
          </p:cNvGraphicFramePr>
          <p:nvPr/>
        </p:nvGraphicFramePr>
        <p:xfrm>
          <a:off x="8672338" y="1500998"/>
          <a:ext cx="9615662" cy="5867400"/>
        </p:xfrm>
        <a:graphic>
          <a:graphicData uri="http://schemas.openxmlformats.org/drawingml/2006/table">
            <a:tbl>
              <a:tblPr/>
              <a:tblGrid>
                <a:gridCol w="1304902"/>
                <a:gridCol w="8310760"/>
              </a:tblGrid>
              <a:tr h="651933">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Ký hiệu</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Ý nghĩa trong dự án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μ</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mean của log return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εₜ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Shock return ngoài dự kiến, không phải sai số giá</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σₜ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volatility tại phiên 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zₜ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Standardized innovation, có mean 0 và variance 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ω</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variance nền trong phương trình sGARCH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phản ứng với shock mới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ghi nhớ volatility quá khứ</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 + 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Persistence của sGARCH; gần 1 nghĩa là shock tiêu tan chậm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4" id="14"/>
          <p:cNvSpPr txBox="true"/>
          <p:nvPr/>
        </p:nvSpPr>
        <p:spPr>
          <a:xfrm rot="0">
            <a:off x="8672338" y="7726125"/>
            <a:ext cx="9615662" cy="2184629"/>
          </a:xfrm>
          <a:prstGeom prst="rect">
            <a:avLst/>
          </a:prstGeom>
        </p:spPr>
        <p:txBody>
          <a:bodyPr anchor="t" rtlCol="false" tIns="0" lIns="0" bIns="0" rIns="0">
            <a:spAutoFit/>
          </a:bodyPr>
          <a:lstStyle/>
          <a:p>
            <a:pPr algn="ctr">
              <a:lnSpc>
                <a:spcPts val="3483"/>
              </a:lnSpc>
              <a:spcBef>
                <a:spcPct val="0"/>
              </a:spcBef>
            </a:pPr>
            <a:r>
              <a:rPr lang="en-US" sz="2799">
                <a:solidFill>
                  <a:srgbClr val="2D2261"/>
                </a:solidFill>
                <a:latin typeface="Red Hat Display"/>
                <a:ea typeface="Red Hat Display"/>
                <a:cs typeface="Red Hat Display"/>
                <a:sym typeface="Red Hat Display"/>
              </a:rPr>
              <a:t>GARCH không dự báo trực tiếp giá cổ phiếu mà ước lượng mức biến động có điều kiện của log return. Volatility hôm nay được cập nhật từ shock mới và volatility trong quá khứ; vì vậy mô hình phù hợp với hiện tượng biến động tập trung theo cụm.</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a:t>
            </a:r>
            <a:r>
              <a:rPr lang="en-US" b="true" sz="5000" strike="noStrike" u="none">
                <a:solidFill>
                  <a:srgbClr val="2D2261"/>
                </a:solidFill>
                <a:latin typeface="Red Hat Display Bold"/>
                <a:ea typeface="Red Hat Display Bold"/>
                <a:cs typeface="Red Hat Display Bold"/>
                <a:sym typeface="Red Hat Display Bold"/>
              </a:rPr>
              <a:t>hử bốn specification GARCH</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1028700" y="1740603"/>
          <a:ext cx="7213201" cy="4533900"/>
        </p:xfrm>
        <a:graphic>
          <a:graphicData uri="http://schemas.openxmlformats.org/drawingml/2006/table">
            <a:tbl>
              <a:tblPr/>
              <a:tblGrid>
                <a:gridCol w="2404400"/>
                <a:gridCol w="2404400"/>
                <a:gridCol w="2404400"/>
              </a:tblGrid>
              <a:tr h="653189">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Mô hình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Distribution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Ý tưởng chính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Normal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Baseline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3189">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Xử lý heavy tails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 variance + bất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GJR-GARCH(1,1)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Indicator cho shock âm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Freeform 11" id="11"/>
          <p:cNvSpPr/>
          <p:nvPr/>
        </p:nvSpPr>
        <p:spPr>
          <a:xfrm flipH="false" flipV="false" rot="0">
            <a:off x="8921788" y="1740603"/>
            <a:ext cx="9366212" cy="4683106"/>
          </a:xfrm>
          <a:custGeom>
            <a:avLst/>
            <a:gdLst/>
            <a:ahLst/>
            <a:cxnLst/>
            <a:rect r="r" b="b" t="t" l="l"/>
            <a:pathLst>
              <a:path h="4683106" w="9366212">
                <a:moveTo>
                  <a:pt x="0" y="0"/>
                </a:moveTo>
                <a:lnTo>
                  <a:pt x="9366212" y="0"/>
                </a:lnTo>
                <a:lnTo>
                  <a:pt x="9366212" y="4683106"/>
                </a:lnTo>
                <a:lnTo>
                  <a:pt x="0" y="4683106"/>
                </a:lnTo>
                <a:lnTo>
                  <a:pt x="0" y="0"/>
                </a:lnTo>
                <a:close/>
              </a:path>
            </a:pathLst>
          </a:custGeom>
          <a:blipFill>
            <a:blip r:embed="rId10"/>
            <a:stretch>
              <a:fillRect l="0" t="0" r="0" b="0"/>
            </a:stretch>
          </a:blipFill>
        </p:spPr>
      </p:sp>
      <p:sp>
        <p:nvSpPr>
          <p:cNvPr name="TextBox 12" id="12"/>
          <p:cNvSpPr txBox="true"/>
          <p:nvPr/>
        </p:nvSpPr>
        <p:spPr>
          <a:xfrm rot="0">
            <a:off x="1028700" y="6396848"/>
            <a:ext cx="16230600" cy="1471930"/>
          </a:xfrm>
          <a:prstGeom prst="rect">
            <a:avLst/>
          </a:prstGeom>
        </p:spPr>
        <p:txBody>
          <a:bodyPr anchor="t" rtlCol="false" tIns="0" lIns="0" bIns="0" rIns="0">
            <a:spAutoFit/>
          </a:bodyPr>
          <a:lstStyle/>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Normal → Student-t:</a:t>
            </a:r>
            <a:r>
              <a:rPr lang="en-US" sz="2799">
                <a:solidFill>
                  <a:srgbClr val="000000"/>
                </a:solidFill>
                <a:latin typeface="Red Hat Display"/>
                <a:ea typeface="Red Hat Display"/>
                <a:cs typeface="Red Hat Display"/>
                <a:sym typeface="Red Hat Display"/>
              </a:rPr>
              <a:t> histogram và Q-Q plot cho thấy return có heavy tails.</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Đối xứng → bất đối xứng: shock âm và dương có thể tác động khác nhau đến volatility.</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Cả bốn dùng cùng response, sample và ARMA(0,0) → AIC/BIC mới so sánh được</a:t>
            </a:r>
          </a:p>
        </p:txBody>
      </p:sp>
      <p:sp>
        <p:nvSpPr>
          <p:cNvPr name="TextBox 13" id="13"/>
          <p:cNvSpPr txBox="true"/>
          <p:nvPr/>
        </p:nvSpPr>
        <p:spPr>
          <a:xfrm rot="0">
            <a:off x="1028700" y="7992603"/>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 specification được chọn theo từng</a:t>
            </a:r>
            <a:r>
              <a:rPr lang="en-US" sz="2799">
                <a:solidFill>
                  <a:srgbClr val="000000"/>
                </a:solidFill>
                <a:latin typeface="Red Hat Display"/>
                <a:ea typeface="Red Hat Display"/>
                <a:cs typeface="Red Hat Display"/>
                <a:sym typeface="Red Hat Display"/>
              </a:rPr>
              <a:t> bước có chủ đích. Nhóm bắt đầu bằng sGARCH-Normal làm baseline, chuyển sang Student-t vì return có đuôi dày, sau đó thử eGARCH và GJR-GARCH để kiểm tra phản ứng bất đối xứng của volatility.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Tiêu chí đánh giá</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10768" y="7585992"/>
            <a:ext cx="16230600" cy="976630"/>
          </a:xfrm>
          <a:prstGeom prst="rect">
            <a:avLst/>
          </a:prstGeom>
        </p:spPr>
        <p:txBody>
          <a:bodyPr anchor="t" rtlCol="false" tIns="0" lIns="0" bIns="0" rIns="0">
            <a:spAutoFit/>
          </a:bodyPr>
          <a:lstStyle/>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·Không chọn model</a:t>
            </a:r>
            <a:r>
              <a:rPr lang="en-US" sz="2799">
                <a:solidFill>
                  <a:srgbClr val="000000"/>
                </a:solidFill>
                <a:latin typeface="Red Hat Display"/>
                <a:ea typeface="Red Hat Display"/>
                <a:cs typeface="Red Hat Display"/>
                <a:sym typeface="Red Hat Display"/>
              </a:rPr>
              <a:t> chỉ vì AIC nhỏ nhất; cần cân bằng fit và diagnostics.</a:t>
            </a:r>
          </a:p>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·P-value ≥ 0,05 chỉ là chưa bác bỏ H₀, không chứng minh model hoàn hảo.</a:t>
            </a:r>
          </a:p>
        </p:txBody>
      </p:sp>
      <p:graphicFrame>
        <p:nvGraphicFramePr>
          <p:cNvPr name="Table 11" id="11"/>
          <p:cNvGraphicFramePr>
            <a:graphicFrameLocks noGrp="true"/>
          </p:cNvGraphicFramePr>
          <p:nvPr/>
        </p:nvGraphicFramePr>
        <p:xfrm>
          <a:off x="2733135" y="1348586"/>
          <a:ext cx="12821730" cy="6057900"/>
        </p:xfrm>
        <a:graphic>
          <a:graphicData uri="http://schemas.openxmlformats.org/drawingml/2006/table">
            <a:tbl>
              <a:tblPr/>
              <a:tblGrid>
                <a:gridCol w="6410865"/>
                <a:gridCol w="6410865"/>
              </a:tblGrid>
              <a:tr h="651799">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Nhóm tiêu chí</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Câu hỏi cần trả lời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Convergence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Thuật toán tối ưu có hội tụ không? (0 = 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AIC/BIC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Fit tương đối có tốt sau khi phạt độ phức tạp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residual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Mean dynamics còn bị bỏ sót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squared + ARCH-LM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ARCH effect còn sót sau fit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Sign-bias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Còn phản ứng bất đối xứng chưa mô hình hóa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Nyblom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Tham số có ổn định theo thời gian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Pearson GOF</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Distribution giả định có phù hợp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2" id="12"/>
          <p:cNvSpPr txBox="true"/>
          <p:nvPr/>
        </p:nvSpPr>
        <p:spPr>
          <a:xfrm rot="0">
            <a:off x="1046632" y="8730416"/>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Nhóm không chọn mô hình chỉ dựa vào AIC. Một mô hình phù hợp còn phải hội tụ, loại bỏ dependence còn sót trong residual, có tham số tương đối ổn định và có distribution phù hợp. Do đó kết luận được hình thành từ nhiều diagnostics.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2986250" y="1351619"/>
          <a:ext cx="12232473" cy="3695700"/>
        </p:xfrm>
        <a:graphic>
          <a:graphicData uri="http://schemas.openxmlformats.org/drawingml/2006/table">
            <a:tbl>
              <a:tblPr/>
              <a:tblGrid>
                <a:gridCol w="2446495"/>
                <a:gridCol w="2446495"/>
                <a:gridCol w="2446495"/>
                <a:gridCol w="2446495"/>
                <a:gridCol w="2446495"/>
              </a:tblGrid>
              <a:tr h="1077912">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Model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AIC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Persistence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Core diag.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Nyblom stable?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GJR-GARCH-t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−5,6344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0,9857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eGARCH-t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−5,6331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0,9627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Có</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−5,6317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0,9891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−5,5073</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0,9645</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bl>
          </a:graphicData>
        </a:graphic>
      </p:graphicFrame>
      <p:sp>
        <p:nvSpPr>
          <p:cNvPr name="TextBox 11" id="11"/>
          <p:cNvSpPr txBox="true"/>
          <p:nvPr/>
        </p:nvSpPr>
        <p:spPr>
          <a:xfrm rot="0">
            <a:off x="2980865" y="5638164"/>
            <a:ext cx="12188052" cy="19672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Lựa chọn:</a:t>
            </a:r>
            <a:r>
              <a:rPr lang="en-US" sz="2799">
                <a:solidFill>
                  <a:srgbClr val="000000"/>
                </a:solidFill>
                <a:latin typeface="Red Hat Display"/>
                <a:ea typeface="Red Hat Display"/>
                <a:cs typeface="Red Hat Display"/>
                <a:sym typeface="Red Hat Display"/>
              </a:rPr>
              <a:t> eGARCH-Student-t là ứng viên cân bằng vì:</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AIC chỉ kém GJR khoảng 0,00137.</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Core residual diagnostics đạt + Nyblom stability đạt.</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Tuy nhiên Pearson GOF bác bỏ distribution fit → đây là hạn chế.</a:t>
            </a:r>
          </a:p>
        </p:txBody>
      </p:sp>
      <p:sp>
        <p:nvSpPr>
          <p:cNvPr name="TextBox 12" id="12"/>
          <p:cNvSpPr txBox="true"/>
          <p:nvPr/>
        </p:nvSpPr>
        <p:spPr>
          <a:xfrm rot="0">
            <a:off x="3752633" y="5105400"/>
            <a:ext cx="10699707" cy="306705"/>
          </a:xfrm>
          <a:prstGeom prst="rect">
            <a:avLst/>
          </a:prstGeom>
        </p:spPr>
        <p:txBody>
          <a:bodyPr anchor="t" rtlCol="false" tIns="0" lIns="0" bIns="0" rIns="0">
            <a:spAutoFit/>
          </a:bodyPr>
          <a:lstStyle/>
          <a:p>
            <a:pPr algn="ctr">
              <a:lnSpc>
                <a:spcPts val="2520"/>
              </a:lnSpc>
              <a:spcBef>
                <a:spcPct val="0"/>
              </a:spcBef>
            </a:pPr>
            <a:r>
              <a:rPr lang="en-US" b="true" sz="1800">
                <a:solidFill>
                  <a:srgbClr val="000000"/>
                </a:solidFill>
                <a:latin typeface="Red Hat Display Bold"/>
                <a:ea typeface="Red Hat Display Bold"/>
                <a:cs typeface="Red Hat Display Bold"/>
                <a:sym typeface="Red Hat Display Bold"/>
              </a:rPr>
              <a:t>Bảng nguồn:</a:t>
            </a:r>
            <a:r>
              <a:rPr lang="en-US" sz="1800">
                <a:solidFill>
                  <a:srgbClr val="000000"/>
                </a:solidFill>
                <a:latin typeface="Red Hat Display"/>
                <a:ea typeface="Red Hat Display"/>
                <a:cs typeface="Red Hat Display"/>
                <a:sym typeface="Red Hat Display"/>
              </a:rPr>
              <a:t> output/tables/volatility_model_comparison.csv.</a:t>
            </a:r>
          </a:p>
        </p:txBody>
      </p:sp>
      <p:sp>
        <p:nvSpPr>
          <p:cNvPr name="TextBox 13" id="13"/>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GJR-</a:t>
            </a:r>
            <a:r>
              <a:rPr lang="en-US" sz="2799">
                <a:solidFill>
                  <a:srgbClr val="000000"/>
                </a:solidFill>
                <a:latin typeface="Red Hat Display"/>
                <a:ea typeface="Red Hat Display"/>
                <a:cs typeface="Red Hat Display"/>
                <a:sym typeface="Red Hat Display"/>
              </a:rPr>
              <a:t>GARCH-t có AIC thấp nhất nhưng không đạt Nyblom joint stability. eGARCH-t chỉ kém 0,00137 AIC, đồng thời đạt core diagnostics và Nyblom stability, nên được chọn là ứng viên cân bằng. Đây không phải mô hình hoàn hảo vì Pearson GOF vẫn bác bỏ distribution fit.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3744346" y="1250111"/>
            <a:ext cx="10799307" cy="6378341"/>
          </a:xfrm>
          <a:custGeom>
            <a:avLst/>
            <a:gdLst/>
            <a:ahLst/>
            <a:cxnLst/>
            <a:rect r="r" b="b" t="t" l="l"/>
            <a:pathLst>
              <a:path h="6378341" w="10799307">
                <a:moveTo>
                  <a:pt x="0" y="0"/>
                </a:moveTo>
                <a:lnTo>
                  <a:pt x="10799308" y="0"/>
                </a:lnTo>
                <a:lnTo>
                  <a:pt x="10799308" y="6378341"/>
                </a:lnTo>
                <a:lnTo>
                  <a:pt x="0" y="6378341"/>
                </a:lnTo>
                <a:lnTo>
                  <a:pt x="0" y="0"/>
                </a:lnTo>
                <a:close/>
              </a:path>
            </a:pathLst>
          </a:custGeom>
          <a:blipFill>
            <a:blip r:embed="rId10"/>
            <a:stretch>
              <a:fillRect l="0" t="0" r="0" b="0"/>
            </a:stretch>
          </a:blipFill>
        </p:spPr>
      </p:sp>
      <p:sp>
        <p:nvSpPr>
          <p:cNvPr name="TextBox 11" id="11"/>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a:t>
            </a:r>
            <a:r>
              <a:rPr lang="en-US" sz="2799">
                <a:solidFill>
                  <a:srgbClr val="000000"/>
                </a:solidFill>
                <a:latin typeface="Red Hat Display"/>
                <a:ea typeface="Red Hat Display"/>
                <a:cs typeface="Red Hat Display"/>
                <a:sym typeface="Red Hat Display"/>
              </a:rPr>
              <a:t> mô hình nhận diện các giai đoạn volatility cao khá tương đồng, nhưng khác nhau về độ lớn tại các đỉnh. Biểu đồ thể hiện conditional volatility lịch sử, không phải dự báo giá và không tự xác định nguyên nhân của các cú sốc.</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Hạn chế và hướng phát triển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08822"/>
            <a:ext cx="16230600" cy="4452096"/>
          </a:xfrm>
          <a:prstGeom prst="rect">
            <a:avLst/>
          </a:prstGeom>
        </p:spPr>
        <p:txBody>
          <a:bodyPr anchor="t" rtlCol="false" tIns="0" lIns="0" bIns="0" rIns="0">
            <a:spAutoFit/>
          </a:bodyPr>
          <a:lstStyle/>
          <a:p>
            <a:pPr algn="l">
              <a:lnSpc>
                <a:spcPts val="5033"/>
              </a:lnSpc>
            </a:pPr>
            <a:r>
              <a:rPr lang="en-US" sz="3595" b="true">
                <a:solidFill>
                  <a:srgbClr val="2D2261"/>
                </a:solidFill>
                <a:latin typeface="Roboto Slab Bold"/>
                <a:ea typeface="Roboto Slab Bold"/>
                <a:cs typeface="Roboto Slab Bold"/>
                <a:sym typeface="Roboto Slab Bold"/>
              </a:rPr>
              <a:t>Hạn chế:</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Holdout ngắn (30 phiên); holdout và rolling-CV chưa đồng nhất.</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ARIMAX/SARIMA chưa có CV cùng cove</a:t>
            </a:r>
            <a:r>
              <a:rPr lang="en-US" sz="3595">
                <a:solidFill>
                  <a:srgbClr val="2D2261"/>
                </a:solidFill>
                <a:latin typeface="Roboto Slab"/>
                <a:ea typeface="Roboto Slab"/>
                <a:cs typeface="Roboto Slab"/>
                <a:sym typeface="Roboto Slab"/>
              </a:rPr>
              <a:t>rage để so sánh công bằng.</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3/4 GARCH không đạt Nyblom joint stability; Pearson GOF bác bỏ ở cả 4.</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Chưa đánh giá volatility forecast ngoài mẫu (VaR backtest).</a:t>
            </a:r>
          </a:p>
          <a:p>
            <a:pPr algn="l" marL="776294" indent="-388147" lvl="1">
              <a:lnSpc>
                <a:spcPts val="5033"/>
              </a:lnSpc>
              <a:buFont typeface="Arial"/>
              <a:buChar char="•"/>
            </a:pPr>
            <a:r>
              <a:rPr lang="en-US" b="true" sz="3595">
                <a:solidFill>
                  <a:srgbClr val="2D2261"/>
                </a:solidFill>
                <a:latin typeface="Roboto Slab Bold"/>
                <a:ea typeface="Roboto Slab Bold"/>
                <a:cs typeface="Roboto Slab Bold"/>
                <a:sym typeface="Roboto Slab Bold"/>
              </a:rPr>
              <a:t>Kết quả phục vụ học thuật, không phải khuyến nghị đầu tư.</a:t>
            </a:r>
          </a:p>
        </p:txBody>
      </p:sp>
      <p:sp>
        <p:nvSpPr>
          <p:cNvPr name="TextBox 11" id="11"/>
          <p:cNvSpPr txBox="true"/>
          <p:nvPr/>
        </p:nvSpPr>
        <p:spPr>
          <a:xfrm rot="0">
            <a:off x="1028700" y="6709894"/>
            <a:ext cx="16230600" cy="2537460"/>
          </a:xfrm>
          <a:prstGeom prst="rect">
            <a:avLst/>
          </a:prstGeom>
        </p:spPr>
        <p:txBody>
          <a:bodyPr anchor="t" rtlCol="false" tIns="0" lIns="0" bIns="0" rIns="0">
            <a:spAutoFit/>
          </a:bodyPr>
          <a:lstStyle/>
          <a:p>
            <a:pPr algn="l">
              <a:lnSpc>
                <a:spcPts val="5040"/>
              </a:lnSpc>
            </a:pPr>
            <a:r>
              <a:rPr lang="en-US" sz="3600">
                <a:solidFill>
                  <a:srgbClr val="2D2261"/>
                </a:solidFill>
                <a:latin typeface="Roboto Slab"/>
                <a:ea typeface="Roboto Slab"/>
                <a:cs typeface="Roboto Slab"/>
                <a:sym typeface="Roboto Slab"/>
              </a:rPr>
              <a:t>Kết quả hiện tại đủ để mô tả conditional volatility trong mẫu nhưng chưa đủ cho một hệ thống quản trị rủi ro thực tế. </a:t>
            </a:r>
          </a:p>
          <a:p>
            <a:pPr algn="l">
              <a:lnSpc>
                <a:spcPts val="5040"/>
              </a:lnSpc>
              <a:spcBef>
                <a:spcPct val="0"/>
              </a:spcBef>
            </a:pPr>
            <a:r>
              <a:rPr lang="en-US" b="true" sz="3600">
                <a:solidFill>
                  <a:srgbClr val="2D2261"/>
                </a:solidFill>
                <a:latin typeface="Roboto Slab Bold"/>
                <a:ea typeface="Roboto Slab Bold"/>
                <a:cs typeface="Roboto Slab Bold"/>
                <a:sym typeface="Roboto Slab Bold"/>
              </a:rPr>
              <a:t>Hướng phát t</a:t>
            </a:r>
            <a:r>
              <a:rPr lang="en-US" b="true" sz="3600">
                <a:solidFill>
                  <a:srgbClr val="2D2261"/>
                </a:solidFill>
                <a:latin typeface="Roboto Slab Bold"/>
                <a:ea typeface="Roboto Slab Bold"/>
                <a:cs typeface="Roboto Slab Bold"/>
                <a:sym typeface="Roboto Slab Bold"/>
              </a:rPr>
              <a:t>riển </a:t>
            </a:r>
            <a:r>
              <a:rPr lang="en-US" sz="3600">
                <a:solidFill>
                  <a:srgbClr val="2D2261"/>
                </a:solidFill>
                <a:latin typeface="Roboto Slab"/>
                <a:ea typeface="Roboto Slab"/>
                <a:cs typeface="Roboto Slab"/>
                <a:sym typeface="Roboto Slab"/>
              </a:rPr>
              <a:t>tiếp theo là đánh giá Rolling CV cho tất cả models, VaR backtest, thử skewed-t/GED.</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Kết luận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37200"/>
            <a:ext cx="16230600" cy="4452096"/>
          </a:xfrm>
          <a:prstGeom prst="rect">
            <a:avLst/>
          </a:prstGeom>
        </p:spPr>
        <p:txBody>
          <a:bodyPr anchor="t" rtlCol="false" tIns="0" lIns="0" bIns="0" rIns="0">
            <a:spAutoFit/>
          </a:bodyPr>
          <a:lstStyle/>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Giá không dừng; log return dừng và có ARCH effect.</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ETS Damped dẫn holdout rất sát Naive; Naive dẫn rolling-CV.</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Chưa có model phức tạp cải thiện benchma</a:t>
            </a:r>
            <a:r>
              <a:rPr lang="en-US" sz="3595">
                <a:solidFill>
                  <a:srgbClr val="2D2261"/>
                </a:solidFill>
                <a:latin typeface="Roboto Slab"/>
                <a:ea typeface="Roboto Slab"/>
                <a:cs typeface="Roboto Slab"/>
                <a:sym typeface="Roboto Slab"/>
              </a:rPr>
              <a:t>rk một cách ổn định.</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Student-t cải thiện fit rõ rệt so với Normal.</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eGARCH-Student-t cân bằng tốt nhất giữa fit, diagnostics và stability.</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Pipeline R tái lập được toàn bộ: dữ liệu → bảng → hình → báo cáo Word.</a:t>
            </a:r>
          </a:p>
        </p:txBody>
      </p:sp>
      <p:sp>
        <p:nvSpPr>
          <p:cNvPr name="TextBox 11" id="11"/>
          <p:cNvSpPr txBox="true"/>
          <p:nvPr/>
        </p:nvSpPr>
        <p:spPr>
          <a:xfrm rot="0">
            <a:off x="1028700" y="6709894"/>
            <a:ext cx="16230600" cy="3175635"/>
          </a:xfrm>
          <a:prstGeom prst="rect">
            <a:avLst/>
          </a:prstGeom>
        </p:spPr>
        <p:txBody>
          <a:bodyPr anchor="t" rtlCol="false" tIns="0" lIns="0" bIns="0" rIns="0">
            <a:spAutoFit/>
          </a:bodyPr>
          <a:lstStyle/>
          <a:p>
            <a:pPr algn="l">
              <a:lnSpc>
                <a:spcPts val="5040"/>
              </a:lnSpc>
              <a:spcBef>
                <a:spcPct val="0"/>
              </a:spcBef>
            </a:pPr>
            <a:r>
              <a:rPr lang="en-US" sz="3600">
                <a:solidFill>
                  <a:srgbClr val="2D2261"/>
                </a:solidFill>
                <a:latin typeface="Roboto Slab"/>
                <a:ea typeface="Roboto Slab"/>
                <a:cs typeface="Roboto Slab"/>
                <a:sym typeface="Roboto Slab"/>
              </a:rPr>
              <a:t>Tóm lại, log return của FPT có ARCH effect và Student-t phù hợp tương đối hơn Normal. Trong bốn specification đã thử, eGARCH-Student-t tạo cân bằng tốt nhất giữa độ phù hợp, </a:t>
            </a:r>
            <a:r>
              <a:rPr lang="en-US" sz="3600">
                <a:solidFill>
                  <a:srgbClr val="2D2261"/>
                </a:solidFill>
                <a:latin typeface="Roboto Slab"/>
                <a:ea typeface="Roboto Slab"/>
                <a:cs typeface="Roboto Slab"/>
                <a:sym typeface="Roboto Slab"/>
              </a:rPr>
              <a:t>residual diagnostics và stability, nhưng kết quả vẫn cần được hiểu trong phạm vi dữ liệu và phương pháp của dự án.</a:t>
            </a:r>
          </a:p>
          <a:p>
            <a:pPr algn="l">
              <a:lnSpc>
                <a:spcPts val="5040"/>
              </a:lnSpc>
              <a:spcBef>
                <a:spcPct val="0"/>
              </a:spcBef>
            </a:pP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Bảng phân công công việc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0" y="1374988"/>
          <a:ext cx="18288000" cy="8915400"/>
        </p:xfrm>
        <a:graphic>
          <a:graphicData uri="http://schemas.openxmlformats.org/drawingml/2006/table">
            <a:tbl>
              <a:tblPr/>
              <a:tblGrid>
                <a:gridCol w="2604395"/>
                <a:gridCol w="1469009"/>
                <a:gridCol w="4787892"/>
                <a:gridCol w="3367637"/>
                <a:gridCol w="3066165"/>
                <a:gridCol w="2992902"/>
              </a:tblGrid>
              <a:tr h="1913176">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Thành</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viên</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Tỷ lệ</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Phạm vi</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đóng góp</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Thời gian thực hiện</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Các file phụ trách chính</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Thành</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viên</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2334075">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Trần Thiên Lực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(24133037)</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30%</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Nguồn dữ liệu,</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cleaning, quality checks và EDA</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Notebook, R/01, R/02, dữ liệu và hình EDA</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Trần Thiên Lực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(24133037)</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2334075">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Nguyễn Đức Học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(24162039)</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35%</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ADF, forecast</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framework, benchmark, rolling CV và diagnostics</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R/03, bảng/hình</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forecast</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Nguyễn Đức Học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(24162039)</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2334075">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Lê Đặng Hoàng</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Anh (24162006)</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35%</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GARCH variants,</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diagnostics, comparison và tích hợp báo cáo</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R/04-R/06, Word và khung slide</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Lê Đặng Hoàng</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Anh (24162006)</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546751" y="743343"/>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16283" y="847655"/>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13733460" y="743343"/>
            <a:ext cx="3825295" cy="4114800"/>
          </a:xfrm>
          <a:custGeom>
            <a:avLst/>
            <a:gdLst/>
            <a:ahLst/>
            <a:cxnLst/>
            <a:rect r="r" b="b" t="t" l="l"/>
            <a:pathLst>
              <a:path h="4114800" w="3825295">
                <a:moveTo>
                  <a:pt x="0" y="0"/>
                </a:moveTo>
                <a:lnTo>
                  <a:pt x="3825295" y="0"/>
                </a:lnTo>
                <a:lnTo>
                  <a:pt x="3825295"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7" id="7"/>
          <p:cNvSpPr/>
          <p:nvPr/>
        </p:nvSpPr>
        <p:spPr>
          <a:xfrm flipH="false" flipV="false" rot="0">
            <a:off x="9989162" y="4479787"/>
            <a:ext cx="4599878" cy="4114800"/>
          </a:xfrm>
          <a:custGeom>
            <a:avLst/>
            <a:gdLst/>
            <a:ahLst/>
            <a:cxnLst/>
            <a:rect r="r" b="b" t="t" l="l"/>
            <a:pathLst>
              <a:path h="4114800" w="4599878">
                <a:moveTo>
                  <a:pt x="0" y="0"/>
                </a:moveTo>
                <a:lnTo>
                  <a:pt x="4599878" y="0"/>
                </a:lnTo>
                <a:lnTo>
                  <a:pt x="4599878" y="4114800"/>
                </a:lnTo>
                <a:lnTo>
                  <a:pt x="0" y="411480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 id="8"/>
          <p:cNvSpPr txBox="true"/>
          <p:nvPr/>
        </p:nvSpPr>
        <p:spPr>
          <a:xfrm rot="0">
            <a:off x="1753451" y="3682429"/>
            <a:ext cx="9507300" cy="2603129"/>
          </a:xfrm>
          <a:prstGeom prst="rect">
            <a:avLst/>
          </a:prstGeom>
        </p:spPr>
        <p:txBody>
          <a:bodyPr anchor="t" rtlCol="false" tIns="0" lIns="0" bIns="0" rIns="0">
            <a:spAutoFit/>
          </a:bodyPr>
          <a:lstStyle/>
          <a:p>
            <a:pPr algn="l">
              <a:lnSpc>
                <a:spcPts val="10310"/>
              </a:lnSpc>
            </a:pPr>
            <a:r>
              <a:rPr lang="en-US" sz="8287" b="true">
                <a:solidFill>
                  <a:srgbClr val="2D2261"/>
                </a:solidFill>
                <a:latin typeface="Red Hat Display Bold"/>
                <a:ea typeface="Red Hat Display Bold"/>
                <a:cs typeface="Red Hat Display Bold"/>
                <a:sym typeface="Red Hat Display Bold"/>
              </a:rPr>
              <a:t>THANKS FOR</a:t>
            </a:r>
          </a:p>
          <a:p>
            <a:pPr algn="l">
              <a:lnSpc>
                <a:spcPts val="10310"/>
              </a:lnSpc>
            </a:pPr>
            <a:r>
              <a:rPr lang="en-US" b="true" sz="8287">
                <a:solidFill>
                  <a:srgbClr val="2D2261"/>
                </a:solidFill>
                <a:latin typeface="Red Hat Display Bold"/>
                <a:ea typeface="Red Hat Display Bold"/>
                <a:cs typeface="Red Hat Display Bold"/>
                <a:sym typeface="Red Hat Display Bold"/>
              </a:rPr>
              <a:t>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DAHNFvqvfe8</dc:identifier>
  <dcterms:modified xsi:type="dcterms:W3CDTF">2011-08-01T06:04:30Z</dcterms:modified>
  <cp:revision>1</cp:revision>
  <dc:title>bao_cao_demo</dc:title>
</cp:coreProperties>
</file>